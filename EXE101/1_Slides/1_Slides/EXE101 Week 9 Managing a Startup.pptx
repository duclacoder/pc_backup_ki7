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Proxima Nova"/>
      <p:regular r:id="rId37"/>
      <p:bold r:id="rId38"/>
      <p:italic r:id="rId39"/>
      <p:boldItalic r:id="rId40"/>
    </p:embeddedFont>
    <p:embeddedFont>
      <p:font typeface="Alfa Slab One"/>
      <p:regular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boldItalic.fntdata"/><Relationship Id="rId20" Type="http://schemas.openxmlformats.org/officeDocument/2006/relationships/slide" Target="slides/slide15.xml"/><Relationship Id="rId41" Type="http://schemas.openxmlformats.org/officeDocument/2006/relationships/font" Target="fonts/AlfaSlabOne-regular.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roximaNova-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ProximaNova-italic.fntdata"/><Relationship Id="rId16" Type="http://schemas.openxmlformats.org/officeDocument/2006/relationships/slide" Target="slides/slide11.xml"/><Relationship Id="rId38" Type="http://schemas.openxmlformats.org/officeDocument/2006/relationships/font" Target="fonts/ProximaNova-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279d52722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279d52722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751541a0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751541a0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e999293fa0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e999293fa0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e999293fa0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e999293fa0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e999293fa0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e999293fa0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e999293fa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e999293fa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e999293fa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e999293fa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e999293fa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e999293fa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e999293fa0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e999293fa0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e999293fa0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e999293fa0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e999293fa0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e999293fa0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e999293fa0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e999293fa0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e999293fa0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e999293fa0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e999293fa0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e999293fa0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e999293fa0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e999293fa0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e999293fa0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e999293fa0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e999293fa0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e999293fa0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e999293fa0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e999293fa0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e999293fa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e999293fa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e999293fa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e999293fa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e999293fa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e999293fa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999293fa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e999293fa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e999293fa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e999293fa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e999293fa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e999293fa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e999293fa0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e999293fa0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e999293fa0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e999293fa0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e999293fa0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e999293fa0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e999293fa0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e999293fa0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e999293fa0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e999293fa0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e999293f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e999293f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e999293fa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e999293fa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6800"/>
              <a:buNone/>
              <a:defRPr sz="6800">
                <a:solidFill>
                  <a:schemeClr val="lt1"/>
                </a:solidFill>
              </a:defRPr>
            </a:lvl1pPr>
            <a:lvl2pPr lvl="1" rtl="0">
              <a:spcBef>
                <a:spcPts val="0"/>
              </a:spcBef>
              <a:spcAft>
                <a:spcPts val="0"/>
              </a:spcAft>
              <a:buClr>
                <a:schemeClr val="lt1"/>
              </a:buClr>
              <a:buSzPts val="6800"/>
              <a:buNone/>
              <a:defRPr sz="6800">
                <a:solidFill>
                  <a:schemeClr val="lt1"/>
                </a:solidFill>
              </a:defRPr>
            </a:lvl2pPr>
            <a:lvl3pPr lvl="2" rtl="0">
              <a:spcBef>
                <a:spcPts val="0"/>
              </a:spcBef>
              <a:spcAft>
                <a:spcPts val="0"/>
              </a:spcAft>
              <a:buClr>
                <a:schemeClr val="lt1"/>
              </a:buClr>
              <a:buSzPts val="6800"/>
              <a:buNone/>
              <a:defRPr sz="6800">
                <a:solidFill>
                  <a:schemeClr val="lt1"/>
                </a:solidFill>
              </a:defRPr>
            </a:lvl3pPr>
            <a:lvl4pPr lvl="3" rtl="0">
              <a:spcBef>
                <a:spcPts val="0"/>
              </a:spcBef>
              <a:spcAft>
                <a:spcPts val="0"/>
              </a:spcAft>
              <a:buClr>
                <a:schemeClr val="lt1"/>
              </a:buClr>
              <a:buSzPts val="6800"/>
              <a:buNone/>
              <a:defRPr sz="6800">
                <a:solidFill>
                  <a:schemeClr val="lt1"/>
                </a:solidFill>
              </a:defRPr>
            </a:lvl4pPr>
            <a:lvl5pPr lvl="4" rtl="0">
              <a:spcBef>
                <a:spcPts val="0"/>
              </a:spcBef>
              <a:spcAft>
                <a:spcPts val="0"/>
              </a:spcAft>
              <a:buClr>
                <a:schemeClr val="lt1"/>
              </a:buClr>
              <a:buSzPts val="6800"/>
              <a:buNone/>
              <a:defRPr sz="6800">
                <a:solidFill>
                  <a:schemeClr val="lt1"/>
                </a:solidFill>
              </a:defRPr>
            </a:lvl5pPr>
            <a:lvl6pPr lvl="5" rtl="0">
              <a:spcBef>
                <a:spcPts val="0"/>
              </a:spcBef>
              <a:spcAft>
                <a:spcPts val="0"/>
              </a:spcAft>
              <a:buClr>
                <a:schemeClr val="lt1"/>
              </a:buClr>
              <a:buSzPts val="6800"/>
              <a:buNone/>
              <a:defRPr sz="6800">
                <a:solidFill>
                  <a:schemeClr val="lt1"/>
                </a:solidFill>
              </a:defRPr>
            </a:lvl6pPr>
            <a:lvl7pPr lvl="6" rtl="0">
              <a:spcBef>
                <a:spcPts val="0"/>
              </a:spcBef>
              <a:spcAft>
                <a:spcPts val="0"/>
              </a:spcAft>
              <a:buClr>
                <a:schemeClr val="lt1"/>
              </a:buClr>
              <a:buSzPts val="6800"/>
              <a:buNone/>
              <a:defRPr sz="6800">
                <a:solidFill>
                  <a:schemeClr val="lt1"/>
                </a:solidFill>
              </a:defRPr>
            </a:lvl7pPr>
            <a:lvl8pPr lvl="7" rtl="0">
              <a:spcBef>
                <a:spcPts val="0"/>
              </a:spcBef>
              <a:spcAft>
                <a:spcPts val="0"/>
              </a:spcAft>
              <a:buClr>
                <a:schemeClr val="lt1"/>
              </a:buClr>
              <a:buSzPts val="6800"/>
              <a:buNone/>
              <a:defRPr sz="6800">
                <a:solidFill>
                  <a:schemeClr val="lt1"/>
                </a:solidFill>
              </a:defRPr>
            </a:lvl8pPr>
            <a:lvl9pPr lvl="8" rtl="0">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Font typeface="Times New Roman"/>
              <a:buNone/>
              <a:defRPr>
                <a:latin typeface="Times New Roman"/>
                <a:ea typeface="Times New Roman"/>
                <a:cs typeface="Times New Roman"/>
                <a:sym typeface="Times New Roman"/>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Times New Roman"/>
              <a:buChar char="●"/>
              <a:defRPr>
                <a:latin typeface="Times New Roman"/>
                <a:ea typeface="Times New Roman"/>
                <a:cs typeface="Times New Roman"/>
                <a:sym typeface="Times New Roman"/>
              </a:defRPr>
            </a:lvl1pPr>
            <a:lvl2pPr indent="-317500" lvl="1" marL="914400" rtl="0">
              <a:spcBef>
                <a:spcPts val="0"/>
              </a:spcBef>
              <a:spcAft>
                <a:spcPts val="0"/>
              </a:spcAft>
              <a:buSzPts val="1400"/>
              <a:buFont typeface="Times New Roman"/>
              <a:buChar char="○"/>
              <a:defRPr>
                <a:latin typeface="Times New Roman"/>
                <a:ea typeface="Times New Roman"/>
                <a:cs typeface="Times New Roman"/>
                <a:sym typeface="Times New Roman"/>
              </a:defRPr>
            </a:lvl2pPr>
            <a:lvl3pPr indent="-317500" lvl="2" marL="1371600" rtl="0">
              <a:spcBef>
                <a:spcPts val="0"/>
              </a:spcBef>
              <a:spcAft>
                <a:spcPts val="0"/>
              </a:spcAft>
              <a:buSzPts val="1400"/>
              <a:buFont typeface="Times New Roman"/>
              <a:buChar char="■"/>
              <a:defRPr>
                <a:latin typeface="Times New Roman"/>
                <a:ea typeface="Times New Roman"/>
                <a:cs typeface="Times New Roman"/>
                <a:sym typeface="Times New Roman"/>
              </a:defRPr>
            </a:lvl3pPr>
            <a:lvl4pPr indent="-317500" lvl="3" marL="1828800" rtl="0">
              <a:spcBef>
                <a:spcPts val="0"/>
              </a:spcBef>
              <a:spcAft>
                <a:spcPts val="0"/>
              </a:spcAft>
              <a:buSzPts val="1400"/>
              <a:buFont typeface="Times New Roman"/>
              <a:buChar char="●"/>
              <a:defRPr>
                <a:latin typeface="Times New Roman"/>
                <a:ea typeface="Times New Roman"/>
                <a:cs typeface="Times New Roman"/>
                <a:sym typeface="Times New Roman"/>
              </a:defRPr>
            </a:lvl4pPr>
            <a:lvl5pPr indent="-317500" lvl="4" marL="2286000" rtl="0">
              <a:spcBef>
                <a:spcPts val="0"/>
              </a:spcBef>
              <a:spcAft>
                <a:spcPts val="0"/>
              </a:spcAft>
              <a:buSzPts val="1400"/>
              <a:buFont typeface="Times New Roman"/>
              <a:buChar char="○"/>
              <a:defRPr>
                <a:latin typeface="Times New Roman"/>
                <a:ea typeface="Times New Roman"/>
                <a:cs typeface="Times New Roman"/>
                <a:sym typeface="Times New Roman"/>
              </a:defRPr>
            </a:lvl5pPr>
            <a:lvl6pPr indent="-317500" lvl="5" marL="2743200" rtl="0">
              <a:spcBef>
                <a:spcPts val="0"/>
              </a:spcBef>
              <a:spcAft>
                <a:spcPts val="0"/>
              </a:spcAft>
              <a:buSzPts val="1400"/>
              <a:buFont typeface="Times New Roman"/>
              <a:buChar char="■"/>
              <a:defRPr>
                <a:latin typeface="Times New Roman"/>
                <a:ea typeface="Times New Roman"/>
                <a:cs typeface="Times New Roman"/>
                <a:sym typeface="Times New Roman"/>
              </a:defRPr>
            </a:lvl6pPr>
            <a:lvl7pPr indent="-317500" lvl="6" marL="3200400" rtl="0">
              <a:spcBef>
                <a:spcPts val="0"/>
              </a:spcBef>
              <a:spcAft>
                <a:spcPts val="0"/>
              </a:spcAft>
              <a:buSzPts val="1400"/>
              <a:buFont typeface="Times New Roman"/>
              <a:buChar char="●"/>
              <a:defRPr>
                <a:latin typeface="Times New Roman"/>
                <a:ea typeface="Times New Roman"/>
                <a:cs typeface="Times New Roman"/>
                <a:sym typeface="Times New Roman"/>
              </a:defRPr>
            </a:lvl7pPr>
            <a:lvl8pPr indent="-317500" lvl="7" marL="3657600" rtl="0">
              <a:spcBef>
                <a:spcPts val="0"/>
              </a:spcBef>
              <a:spcAft>
                <a:spcPts val="0"/>
              </a:spcAft>
              <a:buSzPts val="1400"/>
              <a:buFont typeface="Times New Roman"/>
              <a:buChar char="○"/>
              <a:defRPr>
                <a:latin typeface="Times New Roman"/>
                <a:ea typeface="Times New Roman"/>
                <a:cs typeface="Times New Roman"/>
                <a:sym typeface="Times New Roman"/>
              </a:defRPr>
            </a:lvl8pPr>
            <a:lvl9pPr indent="-317500" lvl="8" marL="4114800" rtl="0">
              <a:spcBef>
                <a:spcPts val="0"/>
              </a:spcBef>
              <a:spcAft>
                <a:spcPts val="0"/>
              </a:spcAft>
              <a:buSzPts val="1400"/>
              <a:buFont typeface="Times New Roman"/>
              <a:buChar char="■"/>
              <a:defRPr>
                <a:latin typeface="Times New Roman"/>
                <a:ea typeface="Times New Roman"/>
                <a:cs typeface="Times New Roman"/>
                <a:sym typeface="Times New Roman"/>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800"/>
              <a:buNone/>
              <a:defRPr sz="3800"/>
            </a:lvl1pPr>
            <a:lvl2pPr lvl="1" rtl="0" algn="ctr">
              <a:spcBef>
                <a:spcPts val="0"/>
              </a:spcBef>
              <a:spcAft>
                <a:spcPts val="0"/>
              </a:spcAft>
              <a:buSzPts val="3800"/>
              <a:buNone/>
              <a:defRPr sz="3800"/>
            </a:lvl2pPr>
            <a:lvl3pPr lvl="2" rtl="0" algn="ctr">
              <a:spcBef>
                <a:spcPts val="0"/>
              </a:spcBef>
              <a:spcAft>
                <a:spcPts val="0"/>
              </a:spcAft>
              <a:buSzPts val="3800"/>
              <a:buNone/>
              <a:defRPr sz="3800"/>
            </a:lvl3pPr>
            <a:lvl4pPr lvl="3" rtl="0" algn="ctr">
              <a:spcBef>
                <a:spcPts val="0"/>
              </a:spcBef>
              <a:spcAft>
                <a:spcPts val="0"/>
              </a:spcAft>
              <a:buSzPts val="3800"/>
              <a:buNone/>
              <a:defRPr sz="3800"/>
            </a:lvl4pPr>
            <a:lvl5pPr lvl="4" rtl="0" algn="ctr">
              <a:spcBef>
                <a:spcPts val="0"/>
              </a:spcBef>
              <a:spcAft>
                <a:spcPts val="0"/>
              </a:spcAft>
              <a:buSzPts val="3800"/>
              <a:buNone/>
              <a:defRPr sz="3800"/>
            </a:lvl5pPr>
            <a:lvl6pPr lvl="5" rtl="0" algn="ctr">
              <a:spcBef>
                <a:spcPts val="0"/>
              </a:spcBef>
              <a:spcAft>
                <a:spcPts val="0"/>
              </a:spcAft>
              <a:buSzPts val="3800"/>
              <a:buNone/>
              <a:defRPr sz="3800"/>
            </a:lvl6pPr>
            <a:lvl7pPr lvl="6" rtl="0" algn="ctr">
              <a:spcBef>
                <a:spcPts val="0"/>
              </a:spcBef>
              <a:spcAft>
                <a:spcPts val="0"/>
              </a:spcAft>
              <a:buSzPts val="3800"/>
              <a:buNone/>
              <a:defRPr sz="3800"/>
            </a:lvl7pPr>
            <a:lvl8pPr lvl="7" rtl="0" algn="ctr">
              <a:spcBef>
                <a:spcPts val="0"/>
              </a:spcBef>
              <a:spcAft>
                <a:spcPts val="0"/>
              </a:spcAft>
              <a:buSzPts val="3800"/>
              <a:buNone/>
              <a:defRPr sz="3800"/>
            </a:lvl8pPr>
            <a:lvl9pPr lvl="8" rtl="0"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1000"/>
              <a:buNone/>
              <a:defRPr sz="11000">
                <a:solidFill>
                  <a:schemeClr val="dk1"/>
                </a:solidFill>
              </a:defRPr>
            </a:lvl1pPr>
            <a:lvl2pPr lvl="1" rtl="0" algn="ctr">
              <a:spcBef>
                <a:spcPts val="0"/>
              </a:spcBef>
              <a:spcAft>
                <a:spcPts val="0"/>
              </a:spcAft>
              <a:buClr>
                <a:schemeClr val="dk1"/>
              </a:buClr>
              <a:buSzPts val="11000"/>
              <a:buNone/>
              <a:defRPr sz="11000">
                <a:solidFill>
                  <a:schemeClr val="dk1"/>
                </a:solidFill>
              </a:defRPr>
            </a:lvl2pPr>
            <a:lvl3pPr lvl="2" rtl="0" algn="ctr">
              <a:spcBef>
                <a:spcPts val="0"/>
              </a:spcBef>
              <a:spcAft>
                <a:spcPts val="0"/>
              </a:spcAft>
              <a:buClr>
                <a:schemeClr val="dk1"/>
              </a:buClr>
              <a:buSzPts val="11000"/>
              <a:buNone/>
              <a:defRPr sz="11000">
                <a:solidFill>
                  <a:schemeClr val="dk1"/>
                </a:solidFill>
              </a:defRPr>
            </a:lvl3pPr>
            <a:lvl4pPr lvl="3" rtl="0" algn="ctr">
              <a:spcBef>
                <a:spcPts val="0"/>
              </a:spcBef>
              <a:spcAft>
                <a:spcPts val="0"/>
              </a:spcAft>
              <a:buClr>
                <a:schemeClr val="dk1"/>
              </a:buClr>
              <a:buSzPts val="11000"/>
              <a:buNone/>
              <a:defRPr sz="11000">
                <a:solidFill>
                  <a:schemeClr val="dk1"/>
                </a:solidFill>
              </a:defRPr>
            </a:lvl4pPr>
            <a:lvl5pPr lvl="4" rtl="0" algn="ctr">
              <a:spcBef>
                <a:spcPts val="0"/>
              </a:spcBef>
              <a:spcAft>
                <a:spcPts val="0"/>
              </a:spcAft>
              <a:buClr>
                <a:schemeClr val="dk1"/>
              </a:buClr>
              <a:buSzPts val="11000"/>
              <a:buNone/>
              <a:defRPr sz="11000">
                <a:solidFill>
                  <a:schemeClr val="dk1"/>
                </a:solidFill>
              </a:defRPr>
            </a:lvl5pPr>
            <a:lvl6pPr lvl="5" rtl="0" algn="ctr">
              <a:spcBef>
                <a:spcPts val="0"/>
              </a:spcBef>
              <a:spcAft>
                <a:spcPts val="0"/>
              </a:spcAft>
              <a:buClr>
                <a:schemeClr val="dk1"/>
              </a:buClr>
              <a:buSzPts val="11000"/>
              <a:buNone/>
              <a:defRPr sz="11000">
                <a:solidFill>
                  <a:schemeClr val="dk1"/>
                </a:solidFill>
              </a:defRPr>
            </a:lvl6pPr>
            <a:lvl7pPr lvl="6" rtl="0" algn="ctr">
              <a:spcBef>
                <a:spcPts val="0"/>
              </a:spcBef>
              <a:spcAft>
                <a:spcPts val="0"/>
              </a:spcAft>
              <a:buClr>
                <a:schemeClr val="dk1"/>
              </a:buClr>
              <a:buSzPts val="11000"/>
              <a:buNone/>
              <a:defRPr sz="11000">
                <a:solidFill>
                  <a:schemeClr val="dk1"/>
                </a:solidFill>
              </a:defRPr>
            </a:lvl7pPr>
            <a:lvl8pPr lvl="7" rtl="0" algn="ctr">
              <a:spcBef>
                <a:spcPts val="0"/>
              </a:spcBef>
              <a:spcAft>
                <a:spcPts val="0"/>
              </a:spcAft>
              <a:buClr>
                <a:schemeClr val="dk1"/>
              </a:buClr>
              <a:buSzPts val="11000"/>
              <a:buNone/>
              <a:defRPr sz="11000">
                <a:solidFill>
                  <a:schemeClr val="dk1"/>
                </a:solidFill>
              </a:defRPr>
            </a:lvl8pPr>
            <a:lvl9pPr lvl="8" rtl="0"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rtl="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Proxima Nova"/>
                <a:ea typeface="Proxima Nova"/>
                <a:cs typeface="Proxima Nova"/>
                <a:sym typeface="Proxima Nova"/>
              </a:defRPr>
            </a:lvl1pPr>
            <a:lvl2pPr lvl="1" rtl="0" algn="r">
              <a:buNone/>
              <a:defRPr sz="1000">
                <a:solidFill>
                  <a:schemeClr val="dk2"/>
                </a:solidFill>
                <a:latin typeface="Proxima Nova"/>
                <a:ea typeface="Proxima Nova"/>
                <a:cs typeface="Proxima Nova"/>
                <a:sym typeface="Proxima Nova"/>
              </a:defRPr>
            </a:lvl2pPr>
            <a:lvl3pPr lvl="2" rtl="0" algn="r">
              <a:buNone/>
              <a:defRPr sz="1000">
                <a:solidFill>
                  <a:schemeClr val="dk2"/>
                </a:solidFill>
                <a:latin typeface="Proxima Nova"/>
                <a:ea typeface="Proxima Nova"/>
                <a:cs typeface="Proxima Nova"/>
                <a:sym typeface="Proxima Nova"/>
              </a:defRPr>
            </a:lvl3pPr>
            <a:lvl4pPr lvl="3" rtl="0" algn="r">
              <a:buNone/>
              <a:defRPr sz="1000">
                <a:solidFill>
                  <a:schemeClr val="dk2"/>
                </a:solidFill>
                <a:latin typeface="Proxima Nova"/>
                <a:ea typeface="Proxima Nova"/>
                <a:cs typeface="Proxima Nova"/>
                <a:sym typeface="Proxima Nova"/>
              </a:defRPr>
            </a:lvl4pPr>
            <a:lvl5pPr lvl="4" rtl="0" algn="r">
              <a:buNone/>
              <a:defRPr sz="1000">
                <a:solidFill>
                  <a:schemeClr val="dk2"/>
                </a:solidFill>
                <a:latin typeface="Proxima Nova"/>
                <a:ea typeface="Proxima Nova"/>
                <a:cs typeface="Proxima Nova"/>
                <a:sym typeface="Proxima Nova"/>
              </a:defRPr>
            </a:lvl5pPr>
            <a:lvl6pPr lvl="5" rtl="0" algn="r">
              <a:buNone/>
              <a:defRPr sz="1000">
                <a:solidFill>
                  <a:schemeClr val="dk2"/>
                </a:solidFill>
                <a:latin typeface="Proxima Nova"/>
                <a:ea typeface="Proxima Nova"/>
                <a:cs typeface="Proxima Nova"/>
                <a:sym typeface="Proxima Nova"/>
              </a:defRPr>
            </a:lvl6pPr>
            <a:lvl7pPr lvl="6" rtl="0" algn="r">
              <a:buNone/>
              <a:defRPr sz="1000">
                <a:solidFill>
                  <a:schemeClr val="dk2"/>
                </a:solidFill>
                <a:latin typeface="Proxima Nova"/>
                <a:ea typeface="Proxima Nova"/>
                <a:cs typeface="Proxima Nova"/>
                <a:sym typeface="Proxima Nova"/>
              </a:defRPr>
            </a:lvl7pPr>
            <a:lvl8pPr lvl="7" rtl="0" algn="r">
              <a:buNone/>
              <a:defRPr sz="1000">
                <a:solidFill>
                  <a:schemeClr val="dk2"/>
                </a:solidFill>
                <a:latin typeface="Proxima Nova"/>
                <a:ea typeface="Proxima Nova"/>
                <a:cs typeface="Proxima Nova"/>
                <a:sym typeface="Proxima Nova"/>
              </a:defRPr>
            </a:lvl8pPr>
            <a:lvl9pPr lvl="8" rtl="0"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chinhphu.v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online.hbs.edu/blog/post/how-to-read-financial-statement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online.hbs.edu/blog/post/how-to-read-financial-statement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online.hbs.edu/blog/post/how-to-read-financial-statement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1" Type="http://schemas.openxmlformats.org/officeDocument/2006/relationships/hyperlink" Target="https://online.hbs.edu/blog/post/how-to-read-financial-statements" TargetMode="External"/><Relationship Id="rId10" Type="http://schemas.openxmlformats.org/officeDocument/2006/relationships/hyperlink" Target="https://blog.hubspot.com/sales/accounting-for-startups" TargetMode="External"/><Relationship Id="rId13" Type="http://schemas.openxmlformats.org/officeDocument/2006/relationships/hyperlink" Target="https://www.pon.harvard.edu/daily/leadership-skills-daily/participative-leadership-what-it-can-do-for-organizations/" TargetMode="External"/><Relationship Id="rId12" Type="http://schemas.openxmlformats.org/officeDocument/2006/relationships/hyperlink" Target="https://www.pon.harvard.edu/daily/leadership-skills-daily/charismatic-leadership-weighing-the-pros-and-cons/" TargetMode="External"/><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plato.stanford.edu/archives/win2022/entries/utilitarianism-history/" TargetMode="External"/><Relationship Id="rId4" Type="http://schemas.openxmlformats.org/officeDocument/2006/relationships/hyperlink" Target="https://plato.stanford.edu/archives/sum2021/entries/rawls/" TargetMode="External"/><Relationship Id="rId9" Type="http://schemas.openxmlformats.org/officeDocument/2006/relationships/hyperlink" Target="https://www.russinvecchi.com.vn/publication/formation-to-funding-legal-considerations-for-tech-startups-in-vietnam/" TargetMode="External"/><Relationship Id="rId14" Type="http://schemas.openxmlformats.org/officeDocument/2006/relationships/hyperlink" Target="https://www.pon.harvard.edu/daily/leadership-skills-daily/the-contingency-theory-of-leadership-a-focus-on-fit/" TargetMode="External"/><Relationship Id="rId5" Type="http://schemas.openxmlformats.org/officeDocument/2006/relationships/hyperlink" Target="https://plato.stanford.edu/archives/spr2023/entries/rights/" TargetMode="External"/><Relationship Id="rId6" Type="http://schemas.openxmlformats.org/officeDocument/2006/relationships/hyperlink" Target="https://plato.stanford.edu/archives/spr2024/entries/contractarianism-contemporary/" TargetMode="External"/><Relationship Id="rId7" Type="http://schemas.openxmlformats.org/officeDocument/2006/relationships/hyperlink" Target="https://plato.stanford.edu/archives/win2023/entries/ayn-rand/" TargetMode="External"/><Relationship Id="rId8" Type="http://schemas.openxmlformats.org/officeDocument/2006/relationships/hyperlink" Target="https://plato.stanford.edu/archives/sum2019/entries/feminism-ethic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id="56" name="Google Shape;56;p13"/>
          <p:cNvPicPr preferRelativeResize="0"/>
          <p:nvPr/>
        </p:nvPicPr>
        <p:blipFill rotWithShape="1">
          <a:blip r:embed="rId3">
            <a:alphaModFix/>
          </a:blip>
          <a:srcRect b="12569" l="0" r="0" t="12569"/>
          <a:stretch/>
        </p:blipFill>
        <p:spPr>
          <a:xfrm>
            <a:off x="0" y="0"/>
            <a:ext cx="9143997" cy="5143500"/>
          </a:xfrm>
          <a:prstGeom prst="rect">
            <a:avLst/>
          </a:prstGeom>
          <a:noFill/>
          <a:ln>
            <a:noFill/>
          </a:ln>
        </p:spPr>
      </p:pic>
      <p:pic>
        <p:nvPicPr>
          <p:cNvPr id="57" name="Google Shape;57;p13"/>
          <p:cNvPicPr preferRelativeResize="0"/>
          <p:nvPr/>
        </p:nvPicPr>
        <p:blipFill>
          <a:blip r:embed="rId4">
            <a:alphaModFix/>
          </a:blip>
          <a:stretch>
            <a:fillRect/>
          </a:stretch>
        </p:blipFill>
        <p:spPr>
          <a:xfrm>
            <a:off x="641725" y="328542"/>
            <a:ext cx="2261300" cy="754850"/>
          </a:xfrm>
          <a:prstGeom prst="rect">
            <a:avLst/>
          </a:prstGeom>
          <a:noFill/>
          <a:ln>
            <a:noFill/>
          </a:ln>
        </p:spPr>
      </p:pic>
      <p:sp>
        <p:nvSpPr>
          <p:cNvPr id="58" name="Google Shape;58;p13"/>
          <p:cNvSpPr txBox="1"/>
          <p:nvPr>
            <p:ph idx="4294967295" type="ctrTitle"/>
          </p:nvPr>
        </p:nvSpPr>
        <p:spPr>
          <a:xfrm>
            <a:off x="641725" y="3879500"/>
            <a:ext cx="5736000" cy="96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lt1"/>
                </a:solidFill>
                <a:latin typeface="Times New Roman"/>
                <a:ea typeface="Times New Roman"/>
                <a:cs typeface="Times New Roman"/>
                <a:sym typeface="Times New Roman"/>
              </a:rPr>
              <a:t>Managing a Startup</a:t>
            </a:r>
            <a:endParaRPr>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GB" sz="1550">
                <a:solidFill>
                  <a:schemeClr val="lt1"/>
                </a:solidFill>
                <a:latin typeface="Times New Roman"/>
                <a:ea typeface="Times New Roman"/>
                <a:cs typeface="Times New Roman"/>
                <a:sym typeface="Times New Roman"/>
              </a:rPr>
              <a:t>EXE101</a:t>
            </a:r>
            <a:endParaRPr sz="1550">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Learning Objectives</a:t>
            </a:r>
            <a:endParaRPr/>
          </a:p>
        </p:txBody>
      </p:sp>
      <p:sp>
        <p:nvSpPr>
          <p:cNvPr id="64" name="Google Shape;64;p14"/>
          <p:cNvSpPr txBox="1"/>
          <p:nvPr>
            <p:ph idx="1" type="body"/>
          </p:nvPr>
        </p:nvSpPr>
        <p:spPr>
          <a:xfrm>
            <a:off x="311700" y="1143425"/>
            <a:ext cx="8520600" cy="3493500"/>
          </a:xfrm>
          <a:prstGeom prst="rect">
            <a:avLst/>
          </a:prstGeom>
        </p:spPr>
        <p:txBody>
          <a:bodyPr anchorCtr="0" anchor="t" bIns="91425" lIns="91425" spcFirstLastPara="1" rIns="91425" wrap="square" tIns="91425">
            <a:normAutofit fontScale="77500" lnSpcReduction="20000"/>
          </a:bodyPr>
          <a:lstStyle/>
          <a:p>
            <a:pPr indent="-317182" lvl="0" marL="457200" rtl="0" algn="l">
              <a:spcBef>
                <a:spcPts val="0"/>
              </a:spcBef>
              <a:spcAft>
                <a:spcPts val="0"/>
              </a:spcAft>
              <a:buSzPct val="100000"/>
              <a:buChar char="●"/>
            </a:pPr>
            <a:r>
              <a:rPr lang="en-GB"/>
              <a:t>List the basic legal needs when setting up a new startup</a:t>
            </a:r>
            <a:endParaRPr/>
          </a:p>
          <a:p>
            <a:pPr indent="-317182" lvl="0" marL="457200" rtl="0" algn="l">
              <a:spcBef>
                <a:spcPts val="0"/>
              </a:spcBef>
              <a:spcAft>
                <a:spcPts val="0"/>
              </a:spcAft>
              <a:buSzPct val="100000"/>
              <a:buChar char="●"/>
            </a:pPr>
            <a:r>
              <a:rPr lang="en-GB"/>
              <a:t>Identify the different types of accounting methods</a:t>
            </a:r>
            <a:endParaRPr/>
          </a:p>
          <a:p>
            <a:pPr indent="-317182" lvl="0" marL="457200" rtl="0" algn="l">
              <a:spcBef>
                <a:spcPts val="0"/>
              </a:spcBef>
              <a:spcAft>
                <a:spcPts val="0"/>
              </a:spcAft>
              <a:buSzPct val="100000"/>
              <a:buChar char="●"/>
            </a:pPr>
            <a:r>
              <a:rPr lang="en-GB"/>
              <a:t>Discuss the differences among financial statements</a:t>
            </a:r>
            <a:endParaRPr/>
          </a:p>
          <a:p>
            <a:pPr indent="-317182" lvl="0" marL="457200" rtl="0" algn="l">
              <a:spcBef>
                <a:spcPts val="0"/>
              </a:spcBef>
              <a:spcAft>
                <a:spcPts val="0"/>
              </a:spcAft>
              <a:buSzPct val="100000"/>
              <a:buChar char="●"/>
            </a:pPr>
            <a:r>
              <a:rPr lang="en-GB"/>
              <a:t>Recognize income statements, balance sheets, cash flow statements, and annual report</a:t>
            </a:r>
            <a:endParaRPr/>
          </a:p>
          <a:p>
            <a:pPr indent="-317182" lvl="0" marL="457200" rtl="0" algn="l">
              <a:spcBef>
                <a:spcPts val="0"/>
              </a:spcBef>
              <a:spcAft>
                <a:spcPts val="0"/>
              </a:spcAft>
              <a:buSzPct val="100000"/>
              <a:buChar char="●"/>
            </a:pPr>
            <a:r>
              <a:rPr lang="en-GB"/>
              <a:t>Discuss the six business ethical theories</a:t>
            </a:r>
            <a:endParaRPr/>
          </a:p>
          <a:p>
            <a:pPr indent="-317182" lvl="0" marL="457200" rtl="0" algn="l">
              <a:spcBef>
                <a:spcPts val="0"/>
              </a:spcBef>
              <a:spcAft>
                <a:spcPts val="0"/>
              </a:spcAft>
              <a:buSzPct val="100000"/>
              <a:buChar char="●"/>
            </a:pPr>
            <a:r>
              <a:rPr lang="en-GB"/>
              <a:t>Make ethical decision based on the 8 steps </a:t>
            </a:r>
            <a:endParaRPr/>
          </a:p>
          <a:p>
            <a:pPr indent="-317182" lvl="0" marL="457200" rtl="0" algn="l">
              <a:spcBef>
                <a:spcPts val="0"/>
              </a:spcBef>
              <a:spcAft>
                <a:spcPts val="0"/>
              </a:spcAft>
              <a:buSzPct val="100000"/>
              <a:buChar char="●"/>
            </a:pPr>
            <a:r>
              <a:rPr lang="en-GB"/>
              <a:t>Identify &amp; discuss the four key leadership theories</a:t>
            </a:r>
            <a:endParaRPr/>
          </a:p>
          <a:p>
            <a:pPr indent="0" lvl="0" marL="0" rtl="0" algn="l">
              <a:spcBef>
                <a:spcPts val="1200"/>
              </a:spcBef>
              <a:spcAft>
                <a:spcPts val="0"/>
              </a:spcAft>
              <a:buNone/>
            </a:pPr>
            <a:r>
              <a:rPr lang="en-GB"/>
              <a:t>By the end of this lesson, you should be able to:</a:t>
            </a:r>
            <a:endParaRPr/>
          </a:p>
          <a:p>
            <a:pPr indent="-317182" lvl="0" marL="457200" rtl="0" algn="l">
              <a:spcBef>
                <a:spcPts val="1200"/>
              </a:spcBef>
              <a:spcAft>
                <a:spcPts val="0"/>
              </a:spcAft>
              <a:buSzPct val="100000"/>
              <a:buChar char="●"/>
            </a:pPr>
            <a:r>
              <a:rPr lang="en-GB"/>
              <a:t>Knowledge: Basics of a startup’s accounting &amp; financing &amp; legality; Business ethical theories; Key leadership theories</a:t>
            </a:r>
            <a:endParaRPr/>
          </a:p>
          <a:p>
            <a:pPr indent="-317182" lvl="0" marL="457200" rtl="0" algn="l">
              <a:spcBef>
                <a:spcPts val="0"/>
              </a:spcBef>
              <a:spcAft>
                <a:spcPts val="0"/>
              </a:spcAft>
              <a:buSzPct val="100000"/>
              <a:buChar char="●"/>
            </a:pPr>
            <a:r>
              <a:rPr lang="en-GB"/>
              <a:t>Competence/Skill: Correctly identify basic legal, accounting, financing needs of a startup; Apply ethics to make sound ethical decisions when leading; Apply leadership theories in managing your startup and team</a:t>
            </a:r>
            <a:endParaRPr/>
          </a:p>
          <a:p>
            <a:pPr indent="-317182" lvl="0" marL="457200" rtl="0" algn="l">
              <a:spcBef>
                <a:spcPts val="0"/>
              </a:spcBef>
              <a:spcAft>
                <a:spcPts val="0"/>
              </a:spcAft>
              <a:buSzPct val="100000"/>
              <a:buChar char="●"/>
            </a:pPr>
            <a:r>
              <a:rPr lang="en-GB"/>
              <a:t>Performance: Students will recognize the basic legal, accounting, financing needs of a startup; Students will make ethical business decisions; Students will recognize their leadership theories and lead effectively</a:t>
            </a:r>
            <a:endParaRPr>
              <a:solidFill>
                <a:srgbClr val="1A1A1A"/>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latin typeface="Times New Roman"/>
                <a:ea typeface="Times New Roman"/>
                <a:cs typeface="Times New Roman"/>
                <a:sym typeface="Times New Roman"/>
              </a:rPr>
              <a:t>Legal Basics</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Legal Basics</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Company Formation &amp; Registration: </a:t>
            </a:r>
            <a:r>
              <a:rPr lang="en-GB" sz="1000"/>
              <a:t>(Ziter, 2023)</a:t>
            </a:r>
            <a:endParaRPr sz="1000"/>
          </a:p>
          <a:p>
            <a:pPr indent="-342900" lvl="0" marL="457200" rtl="0" algn="l">
              <a:spcBef>
                <a:spcPts val="1200"/>
              </a:spcBef>
              <a:spcAft>
                <a:spcPts val="0"/>
              </a:spcAft>
              <a:buSzPts val="1800"/>
              <a:buChar char="●"/>
            </a:pPr>
            <a:r>
              <a:rPr lang="en-GB"/>
              <a:t>Choosing a legal entity: </a:t>
            </a:r>
            <a:endParaRPr/>
          </a:p>
          <a:p>
            <a:pPr indent="-317500" lvl="1" marL="914400" rtl="0" algn="l">
              <a:spcBef>
                <a:spcPts val="0"/>
              </a:spcBef>
              <a:spcAft>
                <a:spcPts val="0"/>
              </a:spcAft>
              <a:buSzPts val="1400"/>
              <a:buChar char="○"/>
            </a:pPr>
            <a:r>
              <a:rPr lang="en-GB"/>
              <a:t>Most common entity is the Limited Liability Company (LLC)</a:t>
            </a:r>
            <a:endParaRPr/>
          </a:p>
          <a:p>
            <a:pPr indent="-317500" lvl="2" marL="1371600" rtl="0" algn="l">
              <a:spcBef>
                <a:spcPts val="0"/>
              </a:spcBef>
              <a:spcAft>
                <a:spcPts val="0"/>
              </a:spcAft>
              <a:buSzPts val="1400"/>
              <a:buChar char="■"/>
            </a:pPr>
            <a:r>
              <a:rPr lang="en-GB"/>
              <a:t>Flexibible, simple governance structure</a:t>
            </a:r>
            <a:endParaRPr/>
          </a:p>
          <a:p>
            <a:pPr indent="-317500" lvl="1" marL="914400" rtl="0" algn="l">
              <a:spcBef>
                <a:spcPts val="0"/>
              </a:spcBef>
              <a:spcAft>
                <a:spcPts val="0"/>
              </a:spcAft>
              <a:buSzPts val="1400"/>
              <a:buChar char="○"/>
            </a:pPr>
            <a:r>
              <a:rPr lang="en-GB"/>
              <a:t>Joint</a:t>
            </a:r>
            <a:r>
              <a:rPr lang="en-GB"/>
              <a:t>-stock company (JSC) is another common option</a:t>
            </a:r>
            <a:endParaRPr/>
          </a:p>
          <a:p>
            <a:pPr indent="-317500" lvl="2" marL="1371600" rtl="0" algn="l">
              <a:spcBef>
                <a:spcPts val="0"/>
              </a:spcBef>
              <a:spcAft>
                <a:spcPts val="0"/>
              </a:spcAft>
              <a:buSzPts val="1400"/>
              <a:buChar char="■"/>
            </a:pPr>
            <a:r>
              <a:rPr lang="en-GB"/>
              <a:t>Suitable for larger scale operations, employee stock ownership plans (“ESOPs”), public listing and accessing capital markets</a:t>
            </a:r>
            <a:endParaRPr/>
          </a:p>
          <a:p>
            <a:pPr indent="-342900" lvl="0" marL="457200" rtl="0" algn="l">
              <a:spcBef>
                <a:spcPts val="0"/>
              </a:spcBef>
              <a:spcAft>
                <a:spcPts val="0"/>
              </a:spcAft>
              <a:buSzPts val="1800"/>
              <a:buChar char="●"/>
            </a:pPr>
            <a:r>
              <a:rPr lang="en-GB"/>
              <a:t>Registration and licensing: </a:t>
            </a:r>
            <a:endParaRPr/>
          </a:p>
          <a:p>
            <a:pPr indent="-317500" lvl="1" marL="914400" rtl="0" algn="l">
              <a:spcBef>
                <a:spcPts val="0"/>
              </a:spcBef>
              <a:spcAft>
                <a:spcPts val="0"/>
              </a:spcAft>
              <a:buSzPts val="1400"/>
              <a:buChar char="○"/>
            </a:pPr>
            <a:r>
              <a:rPr lang="en-GB"/>
              <a:t>Obtaining an enterprise registration certificate (ERC), tax registration, sector-specific licences/permits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Legal Basics (Cont.)</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Intellectual property Protection: </a:t>
            </a:r>
            <a:r>
              <a:rPr lang="en-GB" sz="1000"/>
              <a:t>(Ziter, 2023)</a:t>
            </a:r>
            <a:endParaRPr sz="1000"/>
          </a:p>
          <a:p>
            <a:pPr indent="-342900" lvl="0" marL="457200" rtl="0" algn="l">
              <a:spcBef>
                <a:spcPts val="1200"/>
              </a:spcBef>
              <a:spcAft>
                <a:spcPts val="0"/>
              </a:spcAft>
              <a:buSzPts val="1800"/>
              <a:buChar char="●"/>
            </a:pPr>
            <a:r>
              <a:rPr lang="en-GB"/>
              <a:t>Intellectual property or IP provides competitive advantages for startups.</a:t>
            </a:r>
            <a:endParaRPr/>
          </a:p>
          <a:p>
            <a:pPr indent="-342900" lvl="0" marL="457200" rtl="0" algn="l">
              <a:spcBef>
                <a:spcPts val="0"/>
              </a:spcBef>
              <a:spcAft>
                <a:spcPts val="0"/>
              </a:spcAft>
              <a:buSzPts val="1800"/>
              <a:buChar char="●"/>
            </a:pPr>
            <a:r>
              <a:rPr lang="en-GB"/>
              <a:t>Startups in Vietnam can seek copyright protection, patent protection for inventions and register trademarks for brand identity</a:t>
            </a:r>
            <a:endParaRPr/>
          </a:p>
          <a:p>
            <a:pPr indent="-342900" lvl="0" marL="457200" rtl="0" algn="l">
              <a:spcBef>
                <a:spcPts val="0"/>
              </a:spcBef>
              <a:spcAft>
                <a:spcPts val="0"/>
              </a:spcAft>
              <a:buSzPts val="1800"/>
              <a:buChar char="●"/>
            </a:pPr>
            <a:r>
              <a:rPr lang="en-GB"/>
              <a:t>Copyright protection is automatic upon the creation of original works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Legal Basics (Cont.)</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Employment Law and Contracts</a:t>
            </a:r>
            <a:r>
              <a:rPr lang="en-GB"/>
              <a:t>: </a:t>
            </a:r>
            <a:r>
              <a:rPr lang="en-GB" sz="1000"/>
              <a:t>(Ziter, 2023)</a:t>
            </a:r>
            <a:endParaRPr sz="1000"/>
          </a:p>
          <a:p>
            <a:pPr indent="-342900" lvl="0" marL="457200" rtl="0" algn="l">
              <a:spcBef>
                <a:spcPts val="1200"/>
              </a:spcBef>
              <a:spcAft>
                <a:spcPts val="0"/>
              </a:spcAft>
              <a:buSzPts val="1800"/>
              <a:buChar char="●"/>
            </a:pPr>
            <a:r>
              <a:rPr lang="en-GB"/>
              <a:t>The </a:t>
            </a:r>
            <a:r>
              <a:rPr lang="en-GB" u="sng">
                <a:solidFill>
                  <a:schemeClr val="hlink"/>
                </a:solidFill>
                <a:hlinkClick r:id="rId3"/>
              </a:rPr>
              <a:t>Labor Code</a:t>
            </a:r>
            <a:r>
              <a:rPr lang="en-GB"/>
              <a:t> provides obligations and requirements </a:t>
            </a:r>
            <a:endParaRPr/>
          </a:p>
          <a:p>
            <a:pPr indent="-342900" lvl="0" marL="457200" rtl="0" algn="l">
              <a:spcBef>
                <a:spcPts val="0"/>
              </a:spcBef>
              <a:spcAft>
                <a:spcPts val="0"/>
              </a:spcAft>
              <a:buSzPts val="1800"/>
              <a:buChar char="●"/>
            </a:pPr>
            <a:r>
              <a:rPr lang="en-GB"/>
              <a:t>Compliance with social insurance, labor tax obligations, employment contract regulations</a:t>
            </a:r>
            <a:endParaRPr/>
          </a:p>
          <a:p>
            <a:pPr indent="-342900" lvl="0" marL="457200" rtl="0" algn="l">
              <a:spcBef>
                <a:spcPts val="0"/>
              </a:spcBef>
              <a:spcAft>
                <a:spcPts val="0"/>
              </a:spcAft>
              <a:buSzPts val="1800"/>
              <a:buChar char="●"/>
            </a:pPr>
            <a:r>
              <a:rPr lang="en-GB"/>
              <a:t>Employing foreign nationals: Visa &amp; work permits required</a:t>
            </a:r>
            <a:endParaRPr/>
          </a:p>
          <a:p>
            <a:pPr indent="-342900" lvl="0" marL="457200" rtl="0" algn="l">
              <a:spcBef>
                <a:spcPts val="0"/>
              </a:spcBef>
              <a:spcAft>
                <a:spcPts val="0"/>
              </a:spcAft>
              <a:buSzPts val="1800"/>
              <a:buChar char="●"/>
            </a:pPr>
            <a:r>
              <a:rPr lang="en-GB"/>
              <a:t>Labor contracts are legally binding agreement between employers and employees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latin typeface="Times New Roman"/>
                <a:ea typeface="Times New Roman"/>
                <a:cs typeface="Times New Roman"/>
                <a:sym typeface="Times New Roman"/>
              </a:rPr>
              <a:t>Accounting, Financing Basics</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Accounting, Financing Basics</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Benefit of accurate accounting: </a:t>
            </a:r>
            <a:r>
              <a:rPr lang="en-GB" sz="1000"/>
              <a:t>(Osman, 2024)</a:t>
            </a:r>
            <a:endParaRPr sz="1000"/>
          </a:p>
          <a:p>
            <a:pPr indent="-342900" lvl="0" marL="457200" rtl="0" algn="l">
              <a:spcBef>
                <a:spcPts val="1200"/>
              </a:spcBef>
              <a:spcAft>
                <a:spcPts val="0"/>
              </a:spcAft>
              <a:buSzPts val="1800"/>
              <a:buChar char="●"/>
            </a:pPr>
            <a:r>
              <a:rPr lang="en-GB"/>
              <a:t>Financial Health</a:t>
            </a:r>
            <a:endParaRPr/>
          </a:p>
          <a:p>
            <a:pPr indent="-317500" lvl="1" marL="914400" rtl="0" algn="l">
              <a:spcBef>
                <a:spcPts val="0"/>
              </a:spcBef>
              <a:spcAft>
                <a:spcPts val="0"/>
              </a:spcAft>
              <a:buSzPts val="1400"/>
              <a:buChar char="○"/>
            </a:pPr>
            <a:r>
              <a:rPr lang="en-GB"/>
              <a:t>Providing clear &amp; detailed picture of your expenses, debt, income, assets and liabilities.</a:t>
            </a:r>
            <a:endParaRPr/>
          </a:p>
          <a:p>
            <a:pPr indent="-342900" lvl="0" marL="457200" rtl="0" algn="l">
              <a:spcBef>
                <a:spcPts val="0"/>
              </a:spcBef>
              <a:spcAft>
                <a:spcPts val="0"/>
              </a:spcAft>
              <a:buSzPts val="1800"/>
              <a:buChar char="●"/>
            </a:pPr>
            <a:r>
              <a:rPr lang="en-GB"/>
              <a:t>Impress investors</a:t>
            </a:r>
            <a:endParaRPr/>
          </a:p>
          <a:p>
            <a:pPr indent="-317500" lvl="1" marL="914400" rtl="0" algn="l">
              <a:spcBef>
                <a:spcPts val="0"/>
              </a:spcBef>
              <a:spcAft>
                <a:spcPts val="0"/>
              </a:spcAft>
              <a:buSzPts val="1400"/>
              <a:buChar char="○"/>
            </a:pPr>
            <a:r>
              <a:rPr lang="en-GB"/>
              <a:t>Easier to project growth</a:t>
            </a:r>
            <a:endParaRPr/>
          </a:p>
          <a:p>
            <a:pPr indent="-317500" lvl="1" marL="914400" rtl="0" algn="l">
              <a:spcBef>
                <a:spcPts val="0"/>
              </a:spcBef>
              <a:spcAft>
                <a:spcPts val="0"/>
              </a:spcAft>
              <a:buSzPts val="1400"/>
              <a:buChar char="○"/>
            </a:pPr>
            <a:r>
              <a:rPr lang="en-GB"/>
              <a:t>Valuation of startup is simpler</a:t>
            </a:r>
            <a:endParaRPr/>
          </a:p>
          <a:p>
            <a:pPr indent="-342900" lvl="0" marL="457200" rtl="0" algn="l">
              <a:spcBef>
                <a:spcPts val="0"/>
              </a:spcBef>
              <a:spcAft>
                <a:spcPts val="0"/>
              </a:spcAft>
              <a:buSzPts val="1800"/>
              <a:buChar char="●"/>
            </a:pPr>
            <a:r>
              <a:rPr lang="en-GB"/>
              <a:t>Pay taxes correctly</a:t>
            </a:r>
            <a:endParaRPr/>
          </a:p>
          <a:p>
            <a:pPr indent="-317500" lvl="1" marL="914400" rtl="0" algn="l">
              <a:spcBef>
                <a:spcPts val="0"/>
              </a:spcBef>
              <a:spcAft>
                <a:spcPts val="0"/>
              </a:spcAft>
              <a:buSzPts val="1400"/>
              <a:buChar char="○"/>
            </a:pPr>
            <a:r>
              <a:rPr lang="en-GB"/>
              <a:t>Accounting provides detailed income, expenses, and deductibles for tax calculations</a:t>
            </a:r>
            <a:endParaRPr/>
          </a:p>
          <a:p>
            <a:pPr indent="-342900" lvl="0" marL="457200" rtl="0" algn="l">
              <a:spcBef>
                <a:spcPts val="0"/>
              </a:spcBef>
              <a:spcAft>
                <a:spcPts val="0"/>
              </a:spcAft>
              <a:buSzPts val="1800"/>
              <a:buChar char="●"/>
            </a:pPr>
            <a:r>
              <a:rPr lang="en-GB"/>
              <a:t>Analytics and planning</a:t>
            </a:r>
            <a:endParaRPr/>
          </a:p>
          <a:p>
            <a:pPr indent="-317500" lvl="1" marL="914400" rtl="0" algn="l">
              <a:spcBef>
                <a:spcPts val="0"/>
              </a:spcBef>
              <a:spcAft>
                <a:spcPts val="0"/>
              </a:spcAft>
              <a:buSzPts val="1400"/>
              <a:buChar char="○"/>
            </a:pPr>
            <a:r>
              <a:rPr lang="en-GB"/>
              <a:t>Accounting provides financial statements: balance sheet, cash flow statement, and income statement (profit and loss statement)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Accounting, Financing Basics (Cont.)</a:t>
            </a:r>
            <a:endParaRPr/>
          </a:p>
          <a:p>
            <a:pPr indent="0" lvl="0" marL="0" rtl="0" algn="l">
              <a:spcBef>
                <a:spcPts val="0"/>
              </a:spcBef>
              <a:spcAft>
                <a:spcPts val="0"/>
              </a:spcAft>
              <a:buNone/>
            </a:pPr>
            <a:r>
              <a:t/>
            </a:r>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Accounting Method: </a:t>
            </a:r>
            <a:r>
              <a:rPr lang="en-GB" sz="1000"/>
              <a:t>(Osman, 2024)</a:t>
            </a:r>
            <a:endParaRPr sz="1000"/>
          </a:p>
          <a:p>
            <a:pPr indent="-342900" lvl="0" marL="457200" rtl="0" algn="l">
              <a:spcBef>
                <a:spcPts val="1200"/>
              </a:spcBef>
              <a:spcAft>
                <a:spcPts val="0"/>
              </a:spcAft>
              <a:buSzPts val="1800"/>
              <a:buChar char="●"/>
            </a:pPr>
            <a:r>
              <a:rPr lang="en-GB"/>
              <a:t>Cash basis accounting method</a:t>
            </a:r>
            <a:endParaRPr/>
          </a:p>
          <a:p>
            <a:pPr indent="-317500" lvl="1" marL="914400" rtl="0" algn="l">
              <a:spcBef>
                <a:spcPts val="0"/>
              </a:spcBef>
              <a:spcAft>
                <a:spcPts val="0"/>
              </a:spcAft>
              <a:buSzPts val="1400"/>
              <a:buChar char="○"/>
            </a:pPr>
            <a:r>
              <a:rPr lang="en-GB"/>
              <a:t>Income &amp; expenses are accounted for as and when they happen. </a:t>
            </a:r>
            <a:endParaRPr/>
          </a:p>
          <a:p>
            <a:pPr indent="-317500" lvl="1" marL="914400" rtl="0" algn="l">
              <a:spcBef>
                <a:spcPts val="0"/>
              </a:spcBef>
              <a:spcAft>
                <a:spcPts val="0"/>
              </a:spcAft>
              <a:buSzPts val="1400"/>
              <a:buChar char="○"/>
            </a:pPr>
            <a:r>
              <a:rPr lang="en-GB"/>
              <a:t>Transactions are recorded only when you spend or receive money</a:t>
            </a:r>
            <a:endParaRPr/>
          </a:p>
          <a:p>
            <a:pPr indent="-317500" lvl="1" marL="914400" rtl="0" algn="l">
              <a:spcBef>
                <a:spcPts val="0"/>
              </a:spcBef>
              <a:spcAft>
                <a:spcPts val="0"/>
              </a:spcAft>
              <a:buSzPts val="1400"/>
              <a:buChar char="○"/>
            </a:pPr>
            <a:r>
              <a:rPr lang="en-GB"/>
              <a:t>Works well for small startup with cash transactions and no inventory</a:t>
            </a:r>
            <a:endParaRPr/>
          </a:p>
          <a:p>
            <a:pPr indent="-342900" lvl="0" marL="457200" rtl="0" algn="l">
              <a:spcBef>
                <a:spcPts val="0"/>
              </a:spcBef>
              <a:spcAft>
                <a:spcPts val="0"/>
              </a:spcAft>
              <a:buSzPts val="1800"/>
              <a:buChar char="●"/>
            </a:pPr>
            <a:r>
              <a:rPr lang="en-GB"/>
              <a:t>Accrual basis accounting method</a:t>
            </a:r>
            <a:endParaRPr/>
          </a:p>
          <a:p>
            <a:pPr indent="-317500" lvl="1" marL="914400" rtl="0" algn="l">
              <a:spcBef>
                <a:spcPts val="0"/>
              </a:spcBef>
              <a:spcAft>
                <a:spcPts val="0"/>
              </a:spcAft>
              <a:buSzPts val="1400"/>
              <a:buChar char="○"/>
            </a:pPr>
            <a:r>
              <a:rPr lang="en-GB"/>
              <a:t>Transactions are recorded when they are slated</a:t>
            </a:r>
            <a:endParaRPr/>
          </a:p>
          <a:p>
            <a:pPr indent="-317500" lvl="1" marL="914400" rtl="0" algn="l">
              <a:spcBef>
                <a:spcPts val="0"/>
              </a:spcBef>
              <a:spcAft>
                <a:spcPts val="0"/>
              </a:spcAft>
              <a:buSzPts val="1400"/>
              <a:buChar char="○"/>
            </a:pPr>
            <a:r>
              <a:rPr lang="en-GB"/>
              <a:t>Revenues are recorded before payments are received </a:t>
            </a:r>
            <a:endParaRPr/>
          </a:p>
          <a:p>
            <a:pPr indent="-317500" lvl="1" marL="914400" rtl="0" algn="l">
              <a:spcBef>
                <a:spcPts val="0"/>
              </a:spcBef>
              <a:spcAft>
                <a:spcPts val="0"/>
              </a:spcAft>
              <a:buSzPts val="1400"/>
              <a:buChar char="○"/>
            </a:pPr>
            <a:r>
              <a:rPr lang="en-GB"/>
              <a:t>Expenses are recorded as they incurred</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Accounting, Financing Basics (Cont.)</a:t>
            </a:r>
            <a:endParaRPr/>
          </a:p>
          <a:p>
            <a:pPr indent="0" lvl="0" marL="0" rtl="0" algn="l">
              <a:spcBef>
                <a:spcPts val="0"/>
              </a:spcBef>
              <a:spcAft>
                <a:spcPts val="0"/>
              </a:spcAft>
              <a:buNone/>
            </a:pPr>
            <a:r>
              <a:t/>
            </a:r>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General ledger: </a:t>
            </a:r>
            <a:r>
              <a:rPr lang="en-GB" sz="1000"/>
              <a:t>(Osman, 2024)</a:t>
            </a:r>
            <a:r>
              <a:rPr lang="en-GB"/>
              <a:t> </a:t>
            </a:r>
            <a:endParaRPr/>
          </a:p>
          <a:p>
            <a:pPr indent="-342900" lvl="0" marL="457200" rtl="0" algn="l">
              <a:spcBef>
                <a:spcPts val="1200"/>
              </a:spcBef>
              <a:spcAft>
                <a:spcPts val="0"/>
              </a:spcAft>
              <a:buSzPts val="1800"/>
              <a:buChar char="●"/>
            </a:pPr>
            <a:r>
              <a:rPr lang="en-GB"/>
              <a:t>All financial transactions go into a general ledger</a:t>
            </a:r>
            <a:endParaRPr/>
          </a:p>
          <a:p>
            <a:pPr indent="-342900" lvl="0" marL="457200" rtl="0" algn="l">
              <a:spcBef>
                <a:spcPts val="0"/>
              </a:spcBef>
              <a:spcAft>
                <a:spcPts val="0"/>
              </a:spcAft>
              <a:buSzPts val="1800"/>
              <a:buChar char="●"/>
            </a:pPr>
            <a:r>
              <a:rPr lang="en-GB"/>
              <a:t>Each transaction has its own corresponding journal entry</a:t>
            </a:r>
            <a:endParaRPr/>
          </a:p>
          <a:p>
            <a:pPr indent="0" lvl="0" marL="0" rtl="0" algn="l">
              <a:spcBef>
                <a:spcPts val="1200"/>
              </a:spcBef>
              <a:spcAft>
                <a:spcPts val="0"/>
              </a:spcAft>
              <a:buNone/>
            </a:pPr>
            <a:r>
              <a:rPr lang="en-GB"/>
              <a:t>Reconciliation: </a:t>
            </a:r>
            <a:r>
              <a:rPr lang="en-GB" sz="1000"/>
              <a:t>(Osman, 2024)</a:t>
            </a:r>
            <a:endParaRPr sz="1000"/>
          </a:p>
          <a:p>
            <a:pPr indent="-342900" lvl="0" marL="457200" rtl="0" algn="l">
              <a:spcBef>
                <a:spcPts val="1200"/>
              </a:spcBef>
              <a:spcAft>
                <a:spcPts val="0"/>
              </a:spcAft>
              <a:buSzPts val="1800"/>
              <a:buChar char="●"/>
            </a:pPr>
            <a:r>
              <a:rPr lang="en-GB"/>
              <a:t>Comparing bank statements with general ledger to ensure every bank transaction has a corresponding ledger entry</a:t>
            </a:r>
            <a:endParaRPr/>
          </a:p>
          <a:p>
            <a:pPr indent="-342900" lvl="0" marL="457200" rtl="0" algn="l">
              <a:spcBef>
                <a:spcPts val="0"/>
              </a:spcBef>
              <a:spcAft>
                <a:spcPts val="0"/>
              </a:spcAft>
              <a:buSzPts val="1800"/>
              <a:buChar char="●"/>
            </a:pPr>
            <a:r>
              <a:rPr lang="en-GB"/>
              <a:t>Helps detect fraud, mistakes, and data-entry errors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Accounting, Financing Basics (Cont.)</a:t>
            </a:r>
            <a:endParaRPr/>
          </a:p>
          <a:p>
            <a:pPr indent="0" lvl="0" marL="0" rtl="0" algn="l">
              <a:spcBef>
                <a:spcPts val="0"/>
              </a:spcBef>
              <a:spcAft>
                <a:spcPts val="0"/>
              </a:spcAft>
              <a:buNone/>
            </a:pPr>
            <a:r>
              <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u="sng">
                <a:solidFill>
                  <a:schemeClr val="hlink"/>
                </a:solidFill>
                <a:hlinkClick r:id="rId3"/>
              </a:rPr>
              <a:t>Financial Statements</a:t>
            </a:r>
            <a:r>
              <a:rPr lang="en-GB"/>
              <a:t>: </a:t>
            </a:r>
            <a:r>
              <a:rPr lang="en-GB" sz="1000"/>
              <a:t>(Stobierski, 2020)</a:t>
            </a:r>
            <a:r>
              <a:rPr lang="en-GB"/>
              <a:t> </a:t>
            </a:r>
            <a:endParaRPr/>
          </a:p>
          <a:p>
            <a:pPr indent="-342900" lvl="0" marL="457200" rtl="0" algn="l">
              <a:spcBef>
                <a:spcPts val="1200"/>
              </a:spcBef>
              <a:spcAft>
                <a:spcPts val="0"/>
              </a:spcAft>
              <a:buSzPts val="1800"/>
              <a:buChar char="●"/>
            </a:pPr>
            <a:r>
              <a:rPr lang="en-GB"/>
              <a:t>Balance Sheet:</a:t>
            </a:r>
            <a:endParaRPr/>
          </a:p>
          <a:p>
            <a:pPr indent="-317500" lvl="1" marL="914400" rtl="0" algn="l">
              <a:spcBef>
                <a:spcPts val="0"/>
              </a:spcBef>
              <a:spcAft>
                <a:spcPts val="0"/>
              </a:spcAft>
              <a:buSzPts val="1400"/>
              <a:buChar char="○"/>
            </a:pPr>
            <a:r>
              <a:rPr lang="en-GB"/>
              <a:t>Portrait the Book Value of a company</a:t>
            </a:r>
            <a:endParaRPr/>
          </a:p>
          <a:p>
            <a:pPr indent="-317500" lvl="1" marL="914400" rtl="0" algn="l">
              <a:spcBef>
                <a:spcPts val="0"/>
              </a:spcBef>
              <a:spcAft>
                <a:spcPts val="0"/>
              </a:spcAft>
              <a:buSzPts val="1400"/>
              <a:buChar char="○"/>
            </a:pPr>
            <a:r>
              <a:rPr lang="en-GB"/>
              <a:t>Allow you to see what resources are available, how they were financed as a specific date</a:t>
            </a:r>
            <a:endParaRPr/>
          </a:p>
          <a:p>
            <a:pPr indent="-317500" lvl="1" marL="914400" rtl="0" algn="l">
              <a:spcBef>
                <a:spcPts val="0"/>
              </a:spcBef>
              <a:spcAft>
                <a:spcPts val="0"/>
              </a:spcAft>
              <a:buSzPts val="1400"/>
              <a:buChar char="○"/>
            </a:pPr>
            <a:r>
              <a:rPr lang="en-GB"/>
              <a:t>Shows assets, liabilities and owners’ equity</a:t>
            </a:r>
            <a:endParaRPr/>
          </a:p>
          <a:p>
            <a:pPr indent="-317500" lvl="1" marL="914400" rtl="0" algn="l">
              <a:spcBef>
                <a:spcPts val="0"/>
              </a:spcBef>
              <a:spcAft>
                <a:spcPts val="0"/>
              </a:spcAft>
              <a:buSzPts val="1400"/>
              <a:buChar char="○"/>
            </a:pPr>
            <a:r>
              <a:rPr lang="en-GB"/>
              <a:t>Equation: </a:t>
            </a:r>
            <a:r>
              <a:rPr b="1" lang="en-GB"/>
              <a:t>Assets = Liabilities + Owners’ Equity</a:t>
            </a:r>
            <a:endParaRPr b="1"/>
          </a:p>
          <a:p>
            <a:pPr indent="-317500" lvl="2" marL="1371600" rtl="0" algn="l">
              <a:spcBef>
                <a:spcPts val="0"/>
              </a:spcBef>
              <a:spcAft>
                <a:spcPts val="0"/>
              </a:spcAft>
              <a:buSzPts val="1400"/>
              <a:buChar char="■"/>
            </a:pPr>
            <a:r>
              <a:rPr lang="en-GB"/>
              <a:t>Assets: anything your company owns with quantifiable value</a:t>
            </a:r>
            <a:endParaRPr/>
          </a:p>
          <a:p>
            <a:pPr indent="-317500" lvl="2" marL="1371600" rtl="0" algn="l">
              <a:spcBef>
                <a:spcPts val="0"/>
              </a:spcBef>
              <a:spcAft>
                <a:spcPts val="0"/>
              </a:spcAft>
              <a:buSzPts val="1400"/>
              <a:buChar char="■"/>
            </a:pPr>
            <a:r>
              <a:rPr lang="en-GB"/>
              <a:t>Liabilities: money your company owes to a debtors</a:t>
            </a:r>
            <a:endParaRPr/>
          </a:p>
          <a:p>
            <a:pPr indent="-317500" lvl="2" marL="1371600" rtl="0" algn="l">
              <a:spcBef>
                <a:spcPts val="0"/>
              </a:spcBef>
              <a:spcAft>
                <a:spcPts val="0"/>
              </a:spcAft>
              <a:buSzPts val="1400"/>
              <a:buChar char="■"/>
            </a:pPr>
            <a:r>
              <a:rPr lang="en-GB"/>
              <a:t>Owners’ equity: net worth of your company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latin typeface="Times New Roman"/>
                <a:ea typeface="Times New Roman"/>
                <a:cs typeface="Times New Roman"/>
                <a:sym typeface="Times New Roman"/>
              </a:rPr>
              <a:t>Apple’s Consolidated Balance Sheet Example</a:t>
            </a:r>
            <a:endParaRPr>
              <a:latin typeface="Times New Roman"/>
              <a:ea typeface="Times New Roman"/>
              <a:cs typeface="Times New Roman"/>
              <a:sym typeface="Times New Roman"/>
            </a:endParaRPr>
          </a:p>
        </p:txBody>
      </p:sp>
      <p:pic>
        <p:nvPicPr>
          <p:cNvPr id="122" name="Google Shape;122;p24"/>
          <p:cNvPicPr preferRelativeResize="0"/>
          <p:nvPr/>
        </p:nvPicPr>
        <p:blipFill rotWithShape="1">
          <a:blip r:embed="rId3">
            <a:alphaModFix/>
          </a:blip>
          <a:srcRect b="40775" l="0" r="0" t="0"/>
          <a:stretch/>
        </p:blipFill>
        <p:spPr>
          <a:xfrm>
            <a:off x="0" y="38318"/>
            <a:ext cx="4749850" cy="3555609"/>
          </a:xfrm>
          <a:prstGeom prst="rect">
            <a:avLst/>
          </a:prstGeom>
          <a:noFill/>
          <a:ln>
            <a:noFill/>
          </a:ln>
        </p:spPr>
      </p:pic>
      <p:pic>
        <p:nvPicPr>
          <p:cNvPr id="123" name="Google Shape;123;p24"/>
          <p:cNvPicPr preferRelativeResize="0"/>
          <p:nvPr/>
        </p:nvPicPr>
        <p:blipFill rotWithShape="1">
          <a:blip r:embed="rId3">
            <a:alphaModFix/>
          </a:blip>
          <a:srcRect b="0" l="0" r="0" t="59230"/>
          <a:stretch/>
        </p:blipFill>
        <p:spPr>
          <a:xfrm>
            <a:off x="4572000" y="1237924"/>
            <a:ext cx="4571999" cy="235600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Accounting, Financing Basics </a:t>
            </a:r>
            <a:r>
              <a:rPr lang="en-GB"/>
              <a:t>(Cont.)</a:t>
            </a:r>
            <a:endParaRPr/>
          </a:p>
          <a:p>
            <a:pPr indent="0" lvl="0" marL="0" rtl="0" algn="l">
              <a:spcBef>
                <a:spcPts val="0"/>
              </a:spcBef>
              <a:spcAft>
                <a:spcPts val="0"/>
              </a:spcAft>
              <a:buNone/>
            </a:pPr>
            <a:r>
              <a:t/>
            </a:r>
            <a:endParaRPr/>
          </a:p>
        </p:txBody>
      </p:sp>
      <p:sp>
        <p:nvSpPr>
          <p:cNvPr id="129" name="Google Shape;129;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u="sng">
                <a:solidFill>
                  <a:schemeClr val="hlink"/>
                </a:solidFill>
                <a:hlinkClick r:id="rId3"/>
              </a:rPr>
              <a:t>Financial Statements</a:t>
            </a:r>
            <a:r>
              <a:rPr lang="en-GB"/>
              <a:t>: </a:t>
            </a:r>
            <a:r>
              <a:rPr lang="en-GB" sz="1150"/>
              <a:t>(Stobierski, 2020)</a:t>
            </a:r>
            <a:r>
              <a:rPr lang="en-GB"/>
              <a:t> </a:t>
            </a:r>
            <a:endParaRPr b="1"/>
          </a:p>
          <a:p>
            <a:pPr indent="-334327" lvl="0" marL="457200" rtl="0" algn="l">
              <a:spcBef>
                <a:spcPts val="1200"/>
              </a:spcBef>
              <a:spcAft>
                <a:spcPts val="0"/>
              </a:spcAft>
              <a:buSzPct val="100000"/>
              <a:buChar char="●"/>
            </a:pPr>
            <a:r>
              <a:rPr lang="en-GB"/>
              <a:t>Income Statement or Profit and Loss statement (P&amp;L)</a:t>
            </a:r>
            <a:endParaRPr/>
          </a:p>
          <a:p>
            <a:pPr indent="-310832" lvl="1" marL="914400" rtl="0" algn="l">
              <a:spcBef>
                <a:spcPts val="0"/>
              </a:spcBef>
              <a:spcAft>
                <a:spcPts val="0"/>
              </a:spcAft>
              <a:buSzPct val="100000"/>
              <a:buChar char="○"/>
            </a:pPr>
            <a:r>
              <a:rPr lang="en-GB"/>
              <a:t>Show how revenue, gain, expense, and loss transactions impacted </a:t>
            </a:r>
            <a:r>
              <a:rPr b="1" lang="en-GB"/>
              <a:t>for a given period</a:t>
            </a:r>
            <a:endParaRPr b="1"/>
          </a:p>
          <a:p>
            <a:pPr indent="-310832" lvl="1" marL="914400" rtl="0" algn="l">
              <a:spcBef>
                <a:spcPts val="0"/>
              </a:spcBef>
              <a:spcAft>
                <a:spcPts val="0"/>
              </a:spcAft>
              <a:buSzPct val="100000"/>
              <a:buChar char="○"/>
            </a:pPr>
            <a:r>
              <a:rPr lang="en-GB"/>
              <a:t>Information includes: (Stobierski, 2020)</a:t>
            </a:r>
            <a:endParaRPr/>
          </a:p>
          <a:p>
            <a:pPr indent="-310832" lvl="2" marL="1371600" rtl="0" algn="l">
              <a:spcBef>
                <a:spcPts val="0"/>
              </a:spcBef>
              <a:spcAft>
                <a:spcPts val="0"/>
              </a:spcAft>
              <a:buSzPct val="100000"/>
              <a:buChar char="■"/>
            </a:pPr>
            <a:r>
              <a:rPr lang="en-GB"/>
              <a:t>Revenue: The amount of money a business takes in</a:t>
            </a:r>
            <a:endParaRPr/>
          </a:p>
          <a:p>
            <a:pPr indent="-310832" lvl="2" marL="1371600" rtl="0" algn="l">
              <a:spcBef>
                <a:spcPts val="0"/>
              </a:spcBef>
              <a:spcAft>
                <a:spcPts val="0"/>
              </a:spcAft>
              <a:buSzPct val="100000"/>
              <a:buChar char="■"/>
            </a:pPr>
            <a:r>
              <a:rPr lang="en-GB"/>
              <a:t>Expenses: The amount of money a business spends</a:t>
            </a:r>
            <a:endParaRPr/>
          </a:p>
          <a:p>
            <a:pPr indent="-310832" lvl="2" marL="1371600" rtl="0" algn="l">
              <a:spcBef>
                <a:spcPts val="0"/>
              </a:spcBef>
              <a:spcAft>
                <a:spcPts val="0"/>
              </a:spcAft>
              <a:buSzPct val="100000"/>
              <a:buChar char="■"/>
            </a:pPr>
            <a:r>
              <a:rPr lang="en-GB"/>
              <a:t>Costs of goods sold (COGS): The cost of component parts of what it takes to make whatever a business sells</a:t>
            </a:r>
            <a:endParaRPr/>
          </a:p>
          <a:p>
            <a:pPr indent="-310832" lvl="2" marL="1371600" rtl="0" algn="l">
              <a:spcBef>
                <a:spcPts val="0"/>
              </a:spcBef>
              <a:spcAft>
                <a:spcPts val="0"/>
              </a:spcAft>
              <a:buSzPct val="100000"/>
              <a:buChar char="■"/>
            </a:pPr>
            <a:r>
              <a:rPr lang="en-GB"/>
              <a:t>Gross profit: Total revenue less COGS</a:t>
            </a:r>
            <a:endParaRPr/>
          </a:p>
          <a:p>
            <a:pPr indent="-310832" lvl="2" marL="1371600" rtl="0" algn="l">
              <a:spcBef>
                <a:spcPts val="0"/>
              </a:spcBef>
              <a:spcAft>
                <a:spcPts val="0"/>
              </a:spcAft>
              <a:buSzPct val="100000"/>
              <a:buChar char="■"/>
            </a:pPr>
            <a:r>
              <a:rPr lang="en-GB"/>
              <a:t>Operating income: Gross profit less operating expenses</a:t>
            </a:r>
            <a:endParaRPr/>
          </a:p>
          <a:p>
            <a:pPr indent="-310832" lvl="2" marL="1371600" rtl="0" algn="l">
              <a:spcBef>
                <a:spcPts val="0"/>
              </a:spcBef>
              <a:spcAft>
                <a:spcPts val="0"/>
              </a:spcAft>
              <a:buSzPct val="100000"/>
              <a:buChar char="■"/>
            </a:pPr>
            <a:r>
              <a:rPr lang="en-GB"/>
              <a:t>Income before taxes: Operating income less non-operating expenses</a:t>
            </a:r>
            <a:endParaRPr/>
          </a:p>
          <a:p>
            <a:pPr indent="-310832" lvl="2" marL="1371600" rtl="0" algn="l">
              <a:spcBef>
                <a:spcPts val="0"/>
              </a:spcBef>
              <a:spcAft>
                <a:spcPts val="0"/>
              </a:spcAft>
              <a:buSzPct val="100000"/>
              <a:buChar char="■"/>
            </a:pPr>
            <a:r>
              <a:rPr lang="en-GB"/>
              <a:t>Net income: Income before taxes less taxes</a:t>
            </a:r>
            <a:endParaRPr/>
          </a:p>
          <a:p>
            <a:pPr indent="-310832" lvl="2" marL="1371600" rtl="0" algn="l">
              <a:spcBef>
                <a:spcPts val="0"/>
              </a:spcBef>
              <a:spcAft>
                <a:spcPts val="0"/>
              </a:spcAft>
              <a:buSzPct val="100000"/>
              <a:buChar char="■"/>
            </a:pPr>
            <a:r>
              <a:rPr lang="en-GB"/>
              <a:t>Earnings per share (EPS): Division of net income by the total number of outstanding shares</a:t>
            </a:r>
            <a:endParaRPr/>
          </a:p>
          <a:p>
            <a:pPr indent="-310832" lvl="2" marL="1371600" rtl="0" algn="l">
              <a:spcBef>
                <a:spcPts val="0"/>
              </a:spcBef>
              <a:spcAft>
                <a:spcPts val="0"/>
              </a:spcAft>
              <a:buSzPct val="100000"/>
              <a:buChar char="■"/>
            </a:pPr>
            <a:r>
              <a:rPr lang="en-GB"/>
              <a:t>Depreciation: The extent to which assets (for example, aging equipment) have lost value over time</a:t>
            </a:r>
            <a:endParaRPr/>
          </a:p>
          <a:p>
            <a:pPr indent="-310832" lvl="2" marL="1371600" rtl="0" algn="l">
              <a:spcBef>
                <a:spcPts val="0"/>
              </a:spcBef>
              <a:spcAft>
                <a:spcPts val="0"/>
              </a:spcAft>
              <a:buSzPct val="100000"/>
              <a:buChar char="■"/>
            </a:pPr>
            <a:r>
              <a:rPr lang="en-GB"/>
              <a:t>EBITDA: Earnings before interest, taxes, depreciation, and amortization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latin typeface="Times New Roman"/>
                <a:ea typeface="Times New Roman"/>
                <a:cs typeface="Times New Roman"/>
                <a:sym typeface="Times New Roman"/>
              </a:rPr>
              <a:t>Apple </a:t>
            </a:r>
            <a:r>
              <a:rPr lang="en-GB">
                <a:latin typeface="Times New Roman"/>
                <a:ea typeface="Times New Roman"/>
                <a:cs typeface="Times New Roman"/>
                <a:sym typeface="Times New Roman"/>
              </a:rPr>
              <a:t>Income Statement</a:t>
            </a:r>
            <a:r>
              <a:rPr lang="en-GB">
                <a:latin typeface="Times New Roman"/>
                <a:ea typeface="Times New Roman"/>
                <a:cs typeface="Times New Roman"/>
                <a:sym typeface="Times New Roman"/>
              </a:rPr>
              <a:t> Example</a:t>
            </a:r>
            <a:endParaRPr>
              <a:latin typeface="Times New Roman"/>
              <a:ea typeface="Times New Roman"/>
              <a:cs typeface="Times New Roman"/>
              <a:sym typeface="Times New Roman"/>
            </a:endParaRPr>
          </a:p>
        </p:txBody>
      </p:sp>
      <p:pic>
        <p:nvPicPr>
          <p:cNvPr id="135" name="Google Shape;135;p26"/>
          <p:cNvPicPr preferRelativeResize="0"/>
          <p:nvPr/>
        </p:nvPicPr>
        <p:blipFill rotWithShape="1">
          <a:blip r:embed="rId3">
            <a:alphaModFix/>
          </a:blip>
          <a:srcRect b="41826" l="0" r="0" t="0"/>
          <a:stretch/>
        </p:blipFill>
        <p:spPr>
          <a:xfrm>
            <a:off x="0" y="938801"/>
            <a:ext cx="4602251" cy="2797975"/>
          </a:xfrm>
          <a:prstGeom prst="rect">
            <a:avLst/>
          </a:prstGeom>
          <a:noFill/>
          <a:ln>
            <a:noFill/>
          </a:ln>
        </p:spPr>
      </p:pic>
      <p:pic>
        <p:nvPicPr>
          <p:cNvPr id="136" name="Google Shape;136;p26"/>
          <p:cNvPicPr preferRelativeResize="0"/>
          <p:nvPr/>
        </p:nvPicPr>
        <p:blipFill rotWithShape="1">
          <a:blip r:embed="rId3">
            <a:alphaModFix/>
          </a:blip>
          <a:srcRect b="0" l="0" r="0" t="58174"/>
          <a:stretch/>
        </p:blipFill>
        <p:spPr>
          <a:xfrm>
            <a:off x="4602250" y="1751549"/>
            <a:ext cx="4541749" cy="1985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Accounting, Financing Basics (Cont.)</a:t>
            </a:r>
            <a:endParaRPr/>
          </a:p>
          <a:p>
            <a:pPr indent="0" lvl="0" marL="0" rtl="0" algn="l">
              <a:spcBef>
                <a:spcPts val="0"/>
              </a:spcBef>
              <a:spcAft>
                <a:spcPts val="0"/>
              </a:spcAft>
              <a:buNone/>
            </a:pPr>
            <a:r>
              <a:t/>
            </a:r>
            <a:endParaRPr/>
          </a:p>
        </p:txBody>
      </p:sp>
      <p:sp>
        <p:nvSpPr>
          <p:cNvPr id="142" name="Google Shape;14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u="sng">
                <a:solidFill>
                  <a:schemeClr val="hlink"/>
                </a:solidFill>
                <a:hlinkClick r:id="rId3"/>
              </a:rPr>
              <a:t>Financial Statements</a:t>
            </a:r>
            <a:r>
              <a:rPr lang="en-GB"/>
              <a:t>: </a:t>
            </a:r>
            <a:r>
              <a:rPr lang="en-GB" sz="1000"/>
              <a:t>(Stobierski, 2020)</a:t>
            </a:r>
            <a:r>
              <a:rPr lang="en-GB"/>
              <a:t> </a:t>
            </a:r>
            <a:endParaRPr/>
          </a:p>
          <a:p>
            <a:pPr indent="-342900" lvl="0" marL="457200" rtl="0" algn="l">
              <a:spcBef>
                <a:spcPts val="1200"/>
              </a:spcBef>
              <a:spcAft>
                <a:spcPts val="0"/>
              </a:spcAft>
              <a:buSzPts val="1800"/>
              <a:buChar char="●"/>
            </a:pPr>
            <a:r>
              <a:rPr lang="en-GB"/>
              <a:t>Cash Flow Statement</a:t>
            </a:r>
            <a:endParaRPr/>
          </a:p>
          <a:p>
            <a:pPr indent="-317500" lvl="1" marL="914400" rtl="0" algn="l">
              <a:spcBef>
                <a:spcPts val="0"/>
              </a:spcBef>
              <a:spcAft>
                <a:spcPts val="0"/>
              </a:spcAft>
              <a:buSzPts val="1400"/>
              <a:buChar char="○"/>
            </a:pPr>
            <a:r>
              <a:rPr lang="en-GB"/>
              <a:t>Provide the detailed look of cash during a specific duration of time (accounting period)</a:t>
            </a:r>
            <a:endParaRPr/>
          </a:p>
          <a:p>
            <a:pPr indent="-317500" lvl="1" marL="914400" rtl="0" algn="l">
              <a:spcBef>
                <a:spcPts val="0"/>
              </a:spcBef>
              <a:spcAft>
                <a:spcPts val="0"/>
              </a:spcAft>
              <a:buSzPts val="1400"/>
              <a:buChar char="○"/>
            </a:pPr>
            <a:r>
              <a:rPr lang="en-GB"/>
              <a:t>Demonstrate a company’s ability to operate in the short and long term</a:t>
            </a:r>
            <a:endParaRPr/>
          </a:p>
          <a:p>
            <a:pPr indent="-317500" lvl="1" marL="914400" rtl="0" algn="l">
              <a:spcBef>
                <a:spcPts val="0"/>
              </a:spcBef>
              <a:spcAft>
                <a:spcPts val="0"/>
              </a:spcAft>
              <a:buSzPts val="1400"/>
              <a:buChar char="○"/>
            </a:pPr>
            <a:r>
              <a:rPr lang="en-GB"/>
              <a:t>Cash flow sections: Cash flow from Operating activities, Cash flow from Investing activities, and Cash flow from Financing activities</a:t>
            </a:r>
            <a:endParaRPr/>
          </a:p>
          <a:p>
            <a:pPr indent="-317500" lvl="1" marL="914400" rtl="0" algn="l">
              <a:spcBef>
                <a:spcPts val="0"/>
              </a:spcBef>
              <a:spcAft>
                <a:spcPts val="0"/>
              </a:spcAft>
              <a:buSzPts val="1400"/>
              <a:buChar char="○"/>
            </a:pPr>
            <a:r>
              <a:rPr lang="en-GB"/>
              <a:t>Cash from operating income exceed net income = positive cash flow</a:t>
            </a:r>
            <a:endParaRPr/>
          </a:p>
          <a:p>
            <a:pPr indent="-317500" lvl="1" marL="914400" rtl="0" algn="l">
              <a:spcBef>
                <a:spcPts val="0"/>
              </a:spcBef>
              <a:spcAft>
                <a:spcPts val="0"/>
              </a:spcAft>
              <a:buSzPts val="1400"/>
              <a:buChar char="○"/>
            </a:pPr>
            <a:r>
              <a:rPr lang="en-GB"/>
              <a:t>Positive cash flow does not mean profitability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latin typeface="Times New Roman"/>
                <a:ea typeface="Times New Roman"/>
                <a:cs typeface="Times New Roman"/>
                <a:sym typeface="Times New Roman"/>
              </a:rPr>
              <a:t>Apple’s Consolidated Statement of Cash Flows Example</a:t>
            </a:r>
            <a:endParaRPr>
              <a:latin typeface="Times New Roman"/>
              <a:ea typeface="Times New Roman"/>
              <a:cs typeface="Times New Roman"/>
              <a:sym typeface="Times New Roman"/>
            </a:endParaRPr>
          </a:p>
        </p:txBody>
      </p:sp>
      <p:pic>
        <p:nvPicPr>
          <p:cNvPr id="148" name="Google Shape;148;p28"/>
          <p:cNvPicPr preferRelativeResize="0"/>
          <p:nvPr/>
        </p:nvPicPr>
        <p:blipFill rotWithShape="1">
          <a:blip r:embed="rId3">
            <a:alphaModFix/>
          </a:blip>
          <a:srcRect b="40950" l="0" r="0" t="0"/>
          <a:stretch/>
        </p:blipFill>
        <p:spPr>
          <a:xfrm>
            <a:off x="0" y="26546"/>
            <a:ext cx="4572001" cy="3775630"/>
          </a:xfrm>
          <a:prstGeom prst="rect">
            <a:avLst/>
          </a:prstGeom>
          <a:noFill/>
          <a:ln>
            <a:noFill/>
          </a:ln>
        </p:spPr>
      </p:pic>
      <p:pic>
        <p:nvPicPr>
          <p:cNvPr id="149" name="Google Shape;149;p28"/>
          <p:cNvPicPr preferRelativeResize="0"/>
          <p:nvPr/>
        </p:nvPicPr>
        <p:blipFill rotWithShape="1">
          <a:blip r:embed="rId3">
            <a:alphaModFix/>
          </a:blip>
          <a:srcRect b="0" l="0" r="0" t="59049"/>
          <a:stretch/>
        </p:blipFill>
        <p:spPr>
          <a:xfrm>
            <a:off x="4572000" y="1183848"/>
            <a:ext cx="4572001" cy="26183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Accounting, Financing Basics (Cont.)</a:t>
            </a:r>
            <a:endParaRPr/>
          </a:p>
          <a:p>
            <a:pPr indent="0" lvl="0" marL="0" rtl="0" algn="l">
              <a:spcBef>
                <a:spcPts val="0"/>
              </a:spcBef>
              <a:spcAft>
                <a:spcPts val="0"/>
              </a:spcAft>
              <a:buNone/>
            </a:pPr>
            <a:r>
              <a:t/>
            </a:r>
            <a:endParaRPr/>
          </a:p>
        </p:txBody>
      </p:sp>
      <p:sp>
        <p:nvSpPr>
          <p:cNvPr id="155" name="Google Shape;15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Annual Report </a:t>
            </a:r>
            <a:r>
              <a:rPr lang="en-GB" sz="1000"/>
              <a:t>(Stobierski, 2020)</a:t>
            </a:r>
            <a:endParaRPr sz="1000"/>
          </a:p>
          <a:p>
            <a:pPr indent="-342900" lvl="0" marL="457200" rtl="0" algn="l">
              <a:spcBef>
                <a:spcPts val="1200"/>
              </a:spcBef>
              <a:spcAft>
                <a:spcPts val="0"/>
              </a:spcAft>
              <a:buSzPts val="1800"/>
              <a:buChar char="●"/>
            </a:pPr>
            <a:r>
              <a:rPr lang="en-GB"/>
              <a:t>A publication that public corporations are required to publish annually to shareholders to describe their operational and financial conditions</a:t>
            </a:r>
            <a:endParaRPr/>
          </a:p>
          <a:p>
            <a:pPr indent="-342900" lvl="0" marL="457200" rtl="0" algn="l">
              <a:spcBef>
                <a:spcPts val="0"/>
              </a:spcBef>
              <a:spcAft>
                <a:spcPts val="0"/>
              </a:spcAft>
              <a:buSzPts val="1800"/>
              <a:buChar char="●"/>
            </a:pPr>
            <a:r>
              <a:rPr lang="en-GB"/>
              <a:t>Includes: images, infographics, letter from the CEO, corporate activities, benchmarks, achievements, summary of financial data (income statement, balance sheet, cash flow statement), industry insights, management discussion and analysis (MD&amp;A), accounting policies, additional investor information.</a:t>
            </a:r>
            <a:endParaRPr/>
          </a:p>
          <a:p>
            <a:pPr indent="-342900" lvl="0" marL="457200" rtl="0" algn="l">
              <a:spcBef>
                <a:spcPts val="0"/>
              </a:spcBef>
              <a:spcAft>
                <a:spcPts val="0"/>
              </a:spcAft>
              <a:buSzPts val="1800"/>
              <a:buChar char="●"/>
            </a:pPr>
            <a:r>
              <a:rPr lang="en-GB"/>
              <a:t>Provides greater insight into the corporation’s mission and goals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2480550"/>
            <a:ext cx="8114400" cy="2445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latin typeface="Times New Roman"/>
                <a:ea typeface="Times New Roman"/>
                <a:cs typeface="Times New Roman"/>
                <a:sym typeface="Times New Roman"/>
              </a:rPr>
              <a:t>How to Lead: </a:t>
            </a:r>
            <a:endParaRPr>
              <a:latin typeface="Times New Roman"/>
              <a:ea typeface="Times New Roman"/>
              <a:cs typeface="Times New Roman"/>
              <a:sym typeface="Times New Roman"/>
            </a:endParaRPr>
          </a:p>
          <a:p>
            <a:pPr indent="0" lvl="0" marL="0" rtl="0" algn="l">
              <a:spcBef>
                <a:spcPts val="0"/>
              </a:spcBef>
              <a:spcAft>
                <a:spcPts val="0"/>
              </a:spcAft>
              <a:buNone/>
            </a:pPr>
            <a:r>
              <a:rPr lang="en-GB">
                <a:latin typeface="Times New Roman"/>
                <a:ea typeface="Times New Roman"/>
                <a:cs typeface="Times New Roman"/>
                <a:sym typeface="Times New Roman"/>
              </a:rPr>
              <a:t>Ethical Theories</a:t>
            </a:r>
            <a:endParaRPr>
              <a:latin typeface="Times New Roman"/>
              <a:ea typeface="Times New Roman"/>
              <a:cs typeface="Times New Roman"/>
              <a:sym typeface="Times New Roman"/>
            </a:endParaRPr>
          </a:p>
          <a:p>
            <a:pPr indent="0" lvl="0" marL="0" rtl="0" algn="l">
              <a:spcBef>
                <a:spcPts val="0"/>
              </a:spcBef>
              <a:spcAft>
                <a:spcPts val="0"/>
              </a:spcAft>
              <a:buNone/>
            </a:pPr>
            <a:r>
              <a:rPr lang="en-GB">
                <a:latin typeface="Times New Roman"/>
                <a:ea typeface="Times New Roman"/>
                <a:cs typeface="Times New Roman"/>
                <a:sym typeface="Times New Roman"/>
              </a:rPr>
              <a:t>&amp;</a:t>
            </a:r>
            <a:endParaRPr>
              <a:latin typeface="Times New Roman"/>
              <a:ea typeface="Times New Roman"/>
              <a:cs typeface="Times New Roman"/>
              <a:sym typeface="Times New Roman"/>
            </a:endParaRPr>
          </a:p>
          <a:p>
            <a:pPr indent="0" lvl="0" marL="0" rtl="0" algn="l">
              <a:spcBef>
                <a:spcPts val="0"/>
              </a:spcBef>
              <a:spcAft>
                <a:spcPts val="0"/>
              </a:spcAft>
              <a:buNone/>
            </a:pPr>
            <a:r>
              <a:rPr lang="en-GB">
                <a:latin typeface="Times New Roman"/>
                <a:ea typeface="Times New Roman"/>
                <a:cs typeface="Times New Roman"/>
                <a:sym typeface="Times New Roman"/>
              </a:rPr>
              <a:t>Ethical Decisions Making</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Six Business Ethical Theories</a:t>
            </a:r>
            <a:endParaRPr/>
          </a:p>
        </p:txBody>
      </p:sp>
      <p:sp>
        <p:nvSpPr>
          <p:cNvPr id="166" name="Google Shape;16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AutoNum type="arabicPeriod"/>
            </a:pPr>
            <a:r>
              <a:rPr lang="en-GB"/>
              <a:t>Utilitarianism</a:t>
            </a:r>
            <a:endParaRPr/>
          </a:p>
          <a:p>
            <a:pPr indent="-342900" lvl="0" marL="457200" rtl="0" algn="l">
              <a:lnSpc>
                <a:spcPct val="150000"/>
              </a:lnSpc>
              <a:spcBef>
                <a:spcPts val="0"/>
              </a:spcBef>
              <a:spcAft>
                <a:spcPts val="0"/>
              </a:spcAft>
              <a:buSzPts val="1800"/>
              <a:buAutoNum type="arabicPeriod"/>
            </a:pPr>
            <a:r>
              <a:rPr lang="en-GB"/>
              <a:t>Theory of Justice</a:t>
            </a:r>
            <a:endParaRPr/>
          </a:p>
          <a:p>
            <a:pPr indent="-342900" lvl="0" marL="457200" rtl="0" algn="l">
              <a:lnSpc>
                <a:spcPct val="150000"/>
              </a:lnSpc>
              <a:spcBef>
                <a:spcPts val="0"/>
              </a:spcBef>
              <a:spcAft>
                <a:spcPts val="0"/>
              </a:spcAft>
              <a:buSzPts val="1800"/>
              <a:buAutoNum type="arabicPeriod"/>
            </a:pPr>
            <a:r>
              <a:rPr lang="en-GB"/>
              <a:t>Rights Theory</a:t>
            </a:r>
            <a:endParaRPr/>
          </a:p>
          <a:p>
            <a:pPr indent="-342900" lvl="0" marL="457200" rtl="0" algn="l">
              <a:lnSpc>
                <a:spcPct val="150000"/>
              </a:lnSpc>
              <a:spcBef>
                <a:spcPts val="0"/>
              </a:spcBef>
              <a:spcAft>
                <a:spcPts val="0"/>
              </a:spcAft>
              <a:buSzPts val="1800"/>
              <a:buAutoNum type="arabicPeriod"/>
            </a:pPr>
            <a:r>
              <a:rPr lang="en-GB"/>
              <a:t>Integrated Social Contract Theory</a:t>
            </a:r>
            <a:endParaRPr/>
          </a:p>
          <a:p>
            <a:pPr indent="-342900" lvl="0" marL="457200" rtl="0" algn="l">
              <a:lnSpc>
                <a:spcPct val="150000"/>
              </a:lnSpc>
              <a:spcBef>
                <a:spcPts val="0"/>
              </a:spcBef>
              <a:spcAft>
                <a:spcPts val="0"/>
              </a:spcAft>
              <a:buSzPts val="1800"/>
              <a:buAutoNum type="arabicPeriod"/>
            </a:pPr>
            <a:r>
              <a:rPr lang="en-GB"/>
              <a:t>Theory of Objectivism</a:t>
            </a:r>
            <a:endParaRPr/>
          </a:p>
          <a:p>
            <a:pPr indent="-342900" lvl="0" marL="457200" rtl="0" algn="l">
              <a:lnSpc>
                <a:spcPct val="150000"/>
              </a:lnSpc>
              <a:spcBef>
                <a:spcPts val="0"/>
              </a:spcBef>
              <a:spcAft>
                <a:spcPts val="0"/>
              </a:spcAft>
              <a:buSzPts val="1800"/>
              <a:buAutoNum type="arabicPeriod"/>
            </a:pPr>
            <a:r>
              <a:rPr lang="en-GB"/>
              <a:t>Ethic of Care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Utilitarianism </a:t>
            </a:r>
            <a:endParaRPr/>
          </a:p>
        </p:txBody>
      </p:sp>
      <p:sp>
        <p:nvSpPr>
          <p:cNvPr id="172" name="Google Shape;172;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Classical Utilitarians: “the greatest amount of good for the greatest number” </a:t>
            </a:r>
            <a:r>
              <a:rPr lang="en-GB" sz="1000"/>
              <a:t>(Driver, 2022)</a:t>
            </a:r>
            <a:endParaRPr sz="1000"/>
          </a:p>
          <a:p>
            <a:pPr indent="0" lvl="0" marL="0" rtl="0" algn="l">
              <a:spcBef>
                <a:spcPts val="1200"/>
              </a:spcBef>
              <a:spcAft>
                <a:spcPts val="0"/>
              </a:spcAft>
              <a:buNone/>
            </a:pPr>
            <a:r>
              <a:rPr lang="en-GB"/>
              <a:t>Generally defined as “the morally right action is the action that produces the most good” </a:t>
            </a:r>
            <a:r>
              <a:rPr lang="en-GB" sz="1000"/>
              <a:t>(Driver, 2022)</a:t>
            </a:r>
            <a:endParaRPr sz="1000"/>
          </a:p>
          <a:p>
            <a:pPr indent="0" lvl="0" marL="0" rtl="0" algn="l">
              <a:spcBef>
                <a:spcPts val="1200"/>
              </a:spcBef>
              <a:spcAft>
                <a:spcPts val="0"/>
              </a:spcAft>
              <a:buNone/>
            </a:pPr>
            <a:r>
              <a:rPr lang="en-GB"/>
              <a:t>Distinguished by: Impartiality and agent-neutrality. Happiness among individuals are equal. </a:t>
            </a:r>
            <a:r>
              <a:rPr lang="en-GB" sz="1000"/>
              <a:t>(Driver 2022)</a:t>
            </a:r>
            <a:endParaRPr sz="1000"/>
          </a:p>
          <a:p>
            <a:pPr indent="0" lvl="0" marL="0" rtl="0" algn="l">
              <a:spcBef>
                <a:spcPts val="1200"/>
              </a:spcBef>
              <a:spcAft>
                <a:spcPts val="0"/>
              </a:spcAft>
              <a:buNone/>
            </a:pPr>
            <a:r>
              <a:rPr lang="en-GB"/>
              <a:t>Goal: </a:t>
            </a:r>
            <a:r>
              <a:rPr lang="en-GB"/>
              <a:t>increase</a:t>
            </a:r>
            <a:r>
              <a:rPr lang="en-GB"/>
              <a:t> “utility” or happiness </a:t>
            </a:r>
            <a:r>
              <a:rPr lang="en-GB" sz="1000"/>
              <a:t>(Driver, 2022)</a:t>
            </a:r>
            <a:endParaRPr sz="10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Theory of Justice - John Rawl</a:t>
            </a:r>
            <a:endParaRPr/>
          </a:p>
        </p:txBody>
      </p:sp>
      <p:sp>
        <p:nvSpPr>
          <p:cNvPr id="178" name="Google Shape;178;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t>Definition: “Rawls’s principles of justice as fairness articulate the central liberal ideas that cooperation should be fair to all citizens regarded as free and as equals.” </a:t>
            </a:r>
            <a:r>
              <a:rPr lang="en-GB" sz="1050"/>
              <a:t>(Wenar, 2021)</a:t>
            </a:r>
            <a:endParaRPr sz="1050"/>
          </a:p>
          <a:p>
            <a:pPr indent="0" lvl="0" marL="0" rtl="0" algn="l">
              <a:spcBef>
                <a:spcPts val="1200"/>
              </a:spcBef>
              <a:spcAft>
                <a:spcPts val="0"/>
              </a:spcAft>
              <a:buNone/>
            </a:pPr>
            <a:r>
              <a:rPr lang="en-GB"/>
              <a:t>Two principles:</a:t>
            </a:r>
            <a:endParaRPr/>
          </a:p>
          <a:p>
            <a:pPr indent="-342900" lvl="0" marL="457200" rtl="0" algn="l">
              <a:spcBef>
                <a:spcPts val="1200"/>
              </a:spcBef>
              <a:spcAft>
                <a:spcPts val="0"/>
              </a:spcAft>
              <a:buSzPts val="1800"/>
              <a:buAutoNum type="arabicPeriod"/>
            </a:pPr>
            <a:r>
              <a:rPr lang="en-GB"/>
              <a:t>“</a:t>
            </a:r>
            <a:r>
              <a:rPr lang="en-GB"/>
              <a:t>Each person has the same indefeasible claim to a fully adequate scheme of equal basic liberties, which scheme is compatible with the same scheme of liberties for all;</a:t>
            </a:r>
            <a:endParaRPr/>
          </a:p>
          <a:p>
            <a:pPr indent="-342900" lvl="0" marL="457200" rtl="0" algn="l">
              <a:spcBef>
                <a:spcPts val="0"/>
              </a:spcBef>
              <a:spcAft>
                <a:spcPts val="0"/>
              </a:spcAft>
              <a:buSzPts val="1800"/>
              <a:buAutoNum type="arabicPeriod"/>
            </a:pPr>
            <a:r>
              <a:rPr lang="en-GB"/>
              <a:t>Social and economic inequalities are to satisfy two conditions:</a:t>
            </a:r>
            <a:endParaRPr/>
          </a:p>
          <a:p>
            <a:pPr indent="-317500" lvl="1" marL="914400" marR="0" rtl="0" algn="l">
              <a:lnSpc>
                <a:spcPct val="115000"/>
              </a:lnSpc>
              <a:spcBef>
                <a:spcPts val="0"/>
              </a:spcBef>
              <a:spcAft>
                <a:spcPts val="0"/>
              </a:spcAft>
              <a:buSzPts val="1400"/>
              <a:buAutoNum type="alphaLcPeriod"/>
            </a:pPr>
            <a:r>
              <a:rPr lang="en-GB" sz="1800"/>
              <a:t>They are to be attached to offices and positions open to all under conditions of fair equality of opportunity;</a:t>
            </a:r>
            <a:endParaRPr sz="1800"/>
          </a:p>
          <a:p>
            <a:pPr indent="-317500" lvl="1" marL="914400" marR="0" rtl="0" algn="l">
              <a:lnSpc>
                <a:spcPct val="115000"/>
              </a:lnSpc>
              <a:spcBef>
                <a:spcPts val="0"/>
              </a:spcBef>
              <a:spcAft>
                <a:spcPts val="0"/>
              </a:spcAft>
              <a:buSzPts val="1400"/>
              <a:buAutoNum type="alphaLcPeriod"/>
            </a:pPr>
            <a:r>
              <a:rPr lang="en-GB" sz="1800"/>
              <a:t>They are to be to the greatest benefit of the least-advantaged members of society (the difference principle)” </a:t>
            </a:r>
            <a:r>
              <a:rPr lang="en-GB" sz="1050"/>
              <a:t>(Wenar, 2021)</a:t>
            </a:r>
            <a:endParaRPr sz="105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Rights Theory - Robert Nozick</a:t>
            </a:r>
            <a:endParaRPr/>
          </a:p>
        </p:txBody>
      </p:sp>
      <p:sp>
        <p:nvSpPr>
          <p:cNvPr id="184" name="Google Shape;184;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Definition: “Rights are entitlements (not) to perform certain actions, or (not) to be in certain states; or entitlements that others (not) perform certain actions or (not) be in certain states” </a:t>
            </a:r>
            <a:r>
              <a:rPr lang="en-GB" sz="1050"/>
              <a:t>(Wenar, 2023)</a:t>
            </a:r>
            <a:endParaRPr sz="1050"/>
          </a:p>
          <a:p>
            <a:pPr indent="0" lvl="0" marL="0" rtl="0" algn="l">
              <a:spcBef>
                <a:spcPts val="1200"/>
              </a:spcBef>
              <a:spcAft>
                <a:spcPts val="0"/>
              </a:spcAft>
              <a:buNone/>
            </a:pPr>
            <a:r>
              <a:rPr lang="en-GB"/>
              <a:t>Rights: “Nozick says, because each person possesses an inviolability that all others must respect. ‘Individuals have rights,’ he wrote, ‘and there are things no person or group may do to them (without violating their rights)’ (Nozick 1974, ix).” </a:t>
            </a:r>
            <a:r>
              <a:rPr lang="en-GB" sz="1050"/>
              <a:t>(Wenar, 2023)</a:t>
            </a:r>
            <a:endParaRPr sz="1050"/>
          </a:p>
          <a:p>
            <a:pPr indent="-334327" lvl="0" marL="457200" rtl="0" algn="l">
              <a:spcBef>
                <a:spcPts val="1200"/>
              </a:spcBef>
              <a:spcAft>
                <a:spcPts val="0"/>
              </a:spcAft>
              <a:buSzPct val="100000"/>
              <a:buChar char="●"/>
            </a:pPr>
            <a:r>
              <a:rPr lang="en-GB"/>
              <a:t>Positive rights = </a:t>
            </a:r>
            <a:r>
              <a:rPr lang="en-GB"/>
              <a:t>entitled to provision of some good or service</a:t>
            </a:r>
            <a:endParaRPr/>
          </a:p>
          <a:p>
            <a:pPr indent="-334327" lvl="0" marL="457200" rtl="0" algn="l">
              <a:spcBef>
                <a:spcPts val="0"/>
              </a:spcBef>
              <a:spcAft>
                <a:spcPts val="0"/>
              </a:spcAft>
              <a:buSzPct val="100000"/>
              <a:buChar char="●"/>
            </a:pPr>
            <a:r>
              <a:rPr lang="en-GB"/>
              <a:t>Negative rights = entitled to non-interference</a:t>
            </a:r>
            <a:endParaRPr/>
          </a:p>
          <a:p>
            <a:pPr indent="-334327" lvl="0" marL="457200" rtl="0" algn="l">
              <a:spcBef>
                <a:spcPts val="0"/>
              </a:spcBef>
              <a:spcAft>
                <a:spcPts val="0"/>
              </a:spcAft>
              <a:buSzPct val="100000"/>
              <a:buChar char="●"/>
            </a:pPr>
            <a:r>
              <a:rPr lang="en-GB"/>
              <a:t>Example: the right to not be robbed is a negative right </a:t>
            </a:r>
            <a:r>
              <a:rPr lang="en-GB"/>
              <a:t>while the right to a birthday cake is a positive one</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Integrated Social Contract Theory</a:t>
            </a:r>
            <a:endParaRPr/>
          </a:p>
        </p:txBody>
      </p:sp>
      <p:sp>
        <p:nvSpPr>
          <p:cNvPr id="190" name="Google Shape;190;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Generally defined as “the agreement of all individuals subject to collectively enforced social arrangements shows that those arrangements have some normative property (they are legitimate, just, obligating, etc.)” </a:t>
            </a:r>
            <a:r>
              <a:rPr lang="en-GB" sz="1000"/>
              <a:t>(D’Agostino et al., 2024)</a:t>
            </a:r>
            <a:endParaRPr sz="1000"/>
          </a:p>
          <a:p>
            <a:pPr indent="0" lvl="0" marL="0" rtl="0" algn="l">
              <a:spcBef>
                <a:spcPts val="1200"/>
              </a:spcBef>
              <a:spcAft>
                <a:spcPts val="0"/>
              </a:spcAft>
              <a:buNone/>
            </a:pPr>
            <a:r>
              <a:rPr lang="en-GB"/>
              <a:t>Goal: “S</a:t>
            </a:r>
            <a:r>
              <a:rPr lang="en-GB"/>
              <a:t>ocial (moral, political, legal, etc.) rules can be rationally justified”</a:t>
            </a:r>
            <a:r>
              <a:rPr lang="en-GB"/>
              <a:t> and “Justification does not rely, for its foundation, on some exogenous reason or truth. Justification is generated endogenously by rational agreement” </a:t>
            </a:r>
            <a:r>
              <a:rPr lang="en-GB" sz="1000"/>
              <a:t>(D’Agostino et al., 2024)</a:t>
            </a:r>
            <a:endParaRPr sz="1000"/>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Theory of Objectivism - Ayn </a:t>
            </a:r>
            <a:r>
              <a:rPr lang="en-GB"/>
              <a:t>Rand</a:t>
            </a:r>
            <a:endParaRPr/>
          </a:p>
        </p:txBody>
      </p:sp>
      <p:sp>
        <p:nvSpPr>
          <p:cNvPr id="196" name="Google Shape;196;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GB"/>
              <a:t>Rand’s definition of Ethics: “is a code of values to guide man’s choices and actions—the choices and actions that determine the purpose and the course of his life. (1961b: 13)” (Badhwar and Long, 2023)</a:t>
            </a:r>
            <a:endParaRPr/>
          </a:p>
          <a:p>
            <a:pPr indent="0" lvl="0" marL="0" rtl="0" algn="l">
              <a:spcBef>
                <a:spcPts val="1200"/>
              </a:spcBef>
              <a:spcAft>
                <a:spcPts val="0"/>
              </a:spcAft>
              <a:buNone/>
            </a:pPr>
            <a:r>
              <a:rPr lang="en-GB"/>
              <a:t>Definition: “Ethics is an objective, metaphysical necessity of man’s survival” (p. 24). Thus, [t]he standard of value of the Objectivist ethics … is man’s life, or: that which is required for </a:t>
            </a:r>
            <a:r>
              <a:rPr b="1" lang="en-GB"/>
              <a:t>man’s survival qua man</a:t>
            </a:r>
            <a:r>
              <a:rPr lang="en-GB"/>
              <a:t>, (1961b: 25) that is, the terms, methods, conditions and goals required for the survival of a rational being through the whole of his lifespan—in all those aspects of existence which are open to his choice. (1961b: 27)” </a:t>
            </a:r>
            <a:r>
              <a:rPr lang="en-GB"/>
              <a:t>(Badhwar and Long, 2023)</a:t>
            </a:r>
            <a:endParaRPr/>
          </a:p>
          <a:p>
            <a:pPr indent="0" lvl="0" marL="0" rtl="0" algn="l">
              <a:spcBef>
                <a:spcPts val="1200"/>
              </a:spcBef>
              <a:spcAft>
                <a:spcPts val="0"/>
              </a:spcAft>
              <a:buNone/>
            </a:pPr>
            <a:r>
              <a:rPr lang="en-GB"/>
              <a:t>Ultimate goal: One’s own happiness (Badhwar and Long, 2023)</a:t>
            </a:r>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Ethic of Care - Feminist Ethics</a:t>
            </a:r>
            <a:endParaRPr/>
          </a:p>
        </p:txBody>
      </p:sp>
      <p:sp>
        <p:nvSpPr>
          <p:cNvPr id="202" name="Google Shape;202;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Perspective of Care: “Women, in Gilligan’s studies, were as likely to express the perspective of justice as they were to express a perspective that valued intimacy, responsibility, relationships, and caring for others, while seeing autonomy as “the illusory and dangerous quest” (Gilligan 1982, 48), in tension with the values of attachment” (Norlock, 2019)</a:t>
            </a:r>
            <a:endParaRPr/>
          </a:p>
          <a:p>
            <a:pPr indent="0" lvl="0" marL="0" rtl="0" algn="l">
              <a:spcBef>
                <a:spcPts val="1200"/>
              </a:spcBef>
              <a:spcAft>
                <a:spcPts val="1200"/>
              </a:spcAft>
              <a:buNone/>
            </a:pPr>
            <a:r>
              <a:rPr lang="en-GB"/>
              <a:t>Goal: Helping the less fortunate &amp; Relationships matter most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8 Steps to Sound Ethical Decisions Making</a:t>
            </a:r>
            <a:endParaRPr/>
          </a:p>
        </p:txBody>
      </p:sp>
      <p:sp>
        <p:nvSpPr>
          <p:cNvPr id="208" name="Google Shape;208;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t>Given you </a:t>
            </a:r>
            <a:r>
              <a:rPr lang="en-GB"/>
              <a:t>have chosen ONE ethical theory to apply,</a:t>
            </a:r>
            <a:endParaRPr/>
          </a:p>
          <a:p>
            <a:pPr indent="-342900" lvl="0" marL="457200" rtl="0" algn="l">
              <a:spcBef>
                <a:spcPts val="1200"/>
              </a:spcBef>
              <a:spcAft>
                <a:spcPts val="0"/>
              </a:spcAft>
              <a:buSzPts val="1800"/>
              <a:buAutoNum type="arabicPeriod"/>
            </a:pPr>
            <a:r>
              <a:rPr lang="en-GB"/>
              <a:t>Gather the facts</a:t>
            </a:r>
            <a:endParaRPr/>
          </a:p>
          <a:p>
            <a:pPr indent="-342900" lvl="0" marL="457200" rtl="0" algn="l">
              <a:spcBef>
                <a:spcPts val="0"/>
              </a:spcBef>
              <a:spcAft>
                <a:spcPts val="0"/>
              </a:spcAft>
              <a:buSzPts val="1800"/>
              <a:buAutoNum type="arabicPeriod"/>
            </a:pPr>
            <a:r>
              <a:rPr lang="en-GB"/>
              <a:t>Define the ethical issues</a:t>
            </a:r>
            <a:endParaRPr/>
          </a:p>
          <a:p>
            <a:pPr indent="-342900" lvl="0" marL="457200" rtl="0" algn="l">
              <a:spcBef>
                <a:spcPts val="0"/>
              </a:spcBef>
              <a:spcAft>
                <a:spcPts val="0"/>
              </a:spcAft>
              <a:buSzPts val="1800"/>
              <a:buAutoNum type="arabicPeriod"/>
            </a:pPr>
            <a:r>
              <a:rPr lang="en-GB"/>
              <a:t>Identify the affected parties</a:t>
            </a:r>
            <a:endParaRPr/>
          </a:p>
          <a:p>
            <a:pPr indent="-342900" lvl="0" marL="457200" rtl="0" algn="l">
              <a:spcBef>
                <a:spcPts val="0"/>
              </a:spcBef>
              <a:spcAft>
                <a:spcPts val="0"/>
              </a:spcAft>
              <a:buSzPts val="1800"/>
              <a:buAutoNum type="arabicPeriod"/>
            </a:pPr>
            <a:r>
              <a:rPr lang="en-GB"/>
              <a:t>Identify the consequences</a:t>
            </a:r>
            <a:endParaRPr/>
          </a:p>
          <a:p>
            <a:pPr indent="-342900" lvl="0" marL="457200" rtl="0" algn="l">
              <a:spcBef>
                <a:spcPts val="0"/>
              </a:spcBef>
              <a:spcAft>
                <a:spcPts val="0"/>
              </a:spcAft>
              <a:buSzPts val="1800"/>
              <a:buAutoNum type="arabicPeriod"/>
            </a:pPr>
            <a:r>
              <a:rPr lang="en-GB"/>
              <a:t>Identify the obligations</a:t>
            </a:r>
            <a:endParaRPr/>
          </a:p>
          <a:p>
            <a:pPr indent="-342900" lvl="0" marL="457200" rtl="0" algn="l">
              <a:spcBef>
                <a:spcPts val="0"/>
              </a:spcBef>
              <a:spcAft>
                <a:spcPts val="0"/>
              </a:spcAft>
              <a:buSzPts val="1800"/>
              <a:buAutoNum type="arabicPeriod"/>
            </a:pPr>
            <a:r>
              <a:rPr lang="en-GB"/>
              <a:t>Consider your character and integrity</a:t>
            </a:r>
            <a:endParaRPr/>
          </a:p>
          <a:p>
            <a:pPr indent="-342900" lvl="0" marL="457200" rtl="0" algn="l">
              <a:spcBef>
                <a:spcPts val="0"/>
              </a:spcBef>
              <a:spcAft>
                <a:spcPts val="0"/>
              </a:spcAft>
              <a:buSzPts val="1800"/>
              <a:buAutoNum type="arabicPeriod"/>
            </a:pPr>
            <a:r>
              <a:rPr lang="en-GB"/>
              <a:t>Think creatively about potential actions</a:t>
            </a:r>
            <a:endParaRPr/>
          </a:p>
          <a:p>
            <a:pPr indent="-342900" lvl="0" marL="457200" rtl="0" algn="l">
              <a:spcBef>
                <a:spcPts val="0"/>
              </a:spcBef>
              <a:spcAft>
                <a:spcPts val="0"/>
              </a:spcAft>
              <a:buSzPts val="1800"/>
              <a:buAutoNum type="arabicPeriod"/>
            </a:pPr>
            <a:r>
              <a:rPr lang="en-GB"/>
              <a:t>Check your gut</a:t>
            </a:r>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9"/>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latin typeface="Times New Roman"/>
                <a:ea typeface="Times New Roman"/>
                <a:cs typeface="Times New Roman"/>
                <a:sym typeface="Times New Roman"/>
              </a:rPr>
              <a:t>How to Lead: </a:t>
            </a:r>
            <a:endParaRPr>
              <a:latin typeface="Times New Roman"/>
              <a:ea typeface="Times New Roman"/>
              <a:cs typeface="Times New Roman"/>
              <a:sym typeface="Times New Roman"/>
            </a:endParaRPr>
          </a:p>
          <a:p>
            <a:pPr indent="0" lvl="0" marL="0" rtl="0" algn="l">
              <a:spcBef>
                <a:spcPts val="0"/>
              </a:spcBef>
              <a:spcAft>
                <a:spcPts val="0"/>
              </a:spcAft>
              <a:buNone/>
            </a:pPr>
            <a:r>
              <a:rPr lang="en-GB">
                <a:latin typeface="Times New Roman"/>
                <a:ea typeface="Times New Roman"/>
                <a:cs typeface="Times New Roman"/>
                <a:sym typeface="Times New Roman"/>
              </a:rPr>
              <a:t>Leadership Theories</a:t>
            </a:r>
            <a:endParaRPr>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Times New Roman"/>
                <a:ea typeface="Times New Roman"/>
                <a:cs typeface="Times New Roman"/>
                <a:sym typeface="Times New Roman"/>
              </a:rPr>
              <a:t>Key Leadership Theories</a:t>
            </a:r>
            <a:endParaRPr>
              <a:latin typeface="Times New Roman"/>
              <a:ea typeface="Times New Roman"/>
              <a:cs typeface="Times New Roman"/>
              <a:sym typeface="Times New Roman"/>
            </a:endParaRPr>
          </a:p>
        </p:txBody>
      </p:sp>
      <p:sp>
        <p:nvSpPr>
          <p:cNvPr id="219" name="Google Shape;219;p4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latin typeface="Times New Roman"/>
                <a:ea typeface="Times New Roman"/>
                <a:cs typeface="Times New Roman"/>
                <a:sym typeface="Times New Roman"/>
              </a:rPr>
              <a:t>Trait Theory</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According to Thomas Carlyle, “</a:t>
            </a:r>
            <a:r>
              <a:rPr lang="en-GB">
                <a:latin typeface="Times New Roman"/>
                <a:ea typeface="Times New Roman"/>
                <a:cs typeface="Times New Roman"/>
                <a:sym typeface="Times New Roman"/>
              </a:rPr>
              <a:t>all great achievements can be attributed to the work of heroes, or ‘great men,’” </a:t>
            </a:r>
            <a:r>
              <a:rPr lang="en-GB" sz="1000">
                <a:latin typeface="Times New Roman"/>
                <a:ea typeface="Times New Roman"/>
                <a:cs typeface="Times New Roman"/>
                <a:sym typeface="Times New Roman"/>
              </a:rPr>
              <a:t>(Shonk, 2024)</a:t>
            </a:r>
            <a:endParaRPr sz="1000">
              <a:latin typeface="Times New Roman"/>
              <a:ea typeface="Times New Roman"/>
              <a:cs typeface="Times New Roman"/>
              <a:sym typeface="Times New Roman"/>
            </a:endParaRPr>
          </a:p>
          <a:p>
            <a:pPr indent="0" lvl="0" marL="0" rtl="0" algn="l">
              <a:spcBef>
                <a:spcPts val="1200"/>
              </a:spcBef>
              <a:spcAft>
                <a:spcPts val="1200"/>
              </a:spcAft>
              <a:buNone/>
            </a:pPr>
            <a:r>
              <a:rPr lang="en-GB">
                <a:latin typeface="Times New Roman"/>
                <a:ea typeface="Times New Roman"/>
                <a:cs typeface="Times New Roman"/>
                <a:sym typeface="Times New Roman"/>
              </a:rPr>
              <a:t>Only certain extraordinary individuals possessed the traits required for effective leadership. Others could not develop such traits </a:t>
            </a:r>
            <a:r>
              <a:rPr lang="en-GB" sz="1000">
                <a:latin typeface="Times New Roman"/>
                <a:ea typeface="Times New Roman"/>
                <a:cs typeface="Times New Roman"/>
                <a:sym typeface="Times New Roman"/>
              </a:rPr>
              <a:t>(Shonk, 2024)</a:t>
            </a:r>
            <a:endParaRPr sz="1000">
              <a:latin typeface="Times New Roman"/>
              <a:ea typeface="Times New Roman"/>
              <a:cs typeface="Times New Roman"/>
              <a:sym typeface="Times New Roman"/>
            </a:endParaRPr>
          </a:p>
        </p:txBody>
      </p:sp>
      <p:sp>
        <p:nvSpPr>
          <p:cNvPr id="220" name="Google Shape;220;p4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sz="1800">
                <a:latin typeface="Times New Roman"/>
                <a:ea typeface="Times New Roman"/>
                <a:cs typeface="Times New Roman"/>
                <a:sym typeface="Times New Roman"/>
              </a:rPr>
              <a:t>Contingency Theory</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Theorized that “earlier management theories had neglected the influence of situational factors, or contingencies, on organizations” </a:t>
            </a:r>
            <a:r>
              <a:rPr lang="en-GB" sz="1000">
                <a:latin typeface="Times New Roman"/>
                <a:ea typeface="Times New Roman"/>
                <a:cs typeface="Times New Roman"/>
                <a:sym typeface="Times New Roman"/>
              </a:rPr>
              <a:t>(Shonk, 2024)</a:t>
            </a:r>
            <a:endParaRPr sz="1000">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Task Oriented Leadership: </a:t>
            </a:r>
            <a:endParaRPr>
              <a:latin typeface="Times New Roman"/>
              <a:ea typeface="Times New Roman"/>
              <a:cs typeface="Times New Roman"/>
              <a:sym typeface="Times New Roman"/>
            </a:endParaRPr>
          </a:p>
          <a:p>
            <a:pPr indent="-317500" lvl="0" marL="457200" rtl="0" algn="l">
              <a:spcBef>
                <a:spcPts val="1200"/>
              </a:spcBef>
              <a:spcAft>
                <a:spcPts val="0"/>
              </a:spcAft>
              <a:buSzPts val="1400"/>
              <a:buFont typeface="Times New Roman"/>
              <a:buChar char="●"/>
            </a:pPr>
            <a:r>
              <a:rPr lang="en-GB">
                <a:latin typeface="Times New Roman"/>
                <a:ea typeface="Times New Roman"/>
                <a:cs typeface="Times New Roman"/>
                <a:sym typeface="Times New Roman"/>
              </a:rPr>
              <a:t>Focus on tasks completion </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GB">
                <a:latin typeface="Times New Roman"/>
                <a:ea typeface="Times New Roman"/>
                <a:cs typeface="Times New Roman"/>
                <a:sym typeface="Times New Roman"/>
              </a:rPr>
              <a:t>Autocratic, authoritarian, directive </a:t>
            </a:r>
            <a:endParaRPr>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Relationship Oriented Leadership: </a:t>
            </a:r>
            <a:endParaRPr>
              <a:latin typeface="Times New Roman"/>
              <a:ea typeface="Times New Roman"/>
              <a:cs typeface="Times New Roman"/>
              <a:sym typeface="Times New Roman"/>
            </a:endParaRPr>
          </a:p>
          <a:p>
            <a:pPr indent="-317500" lvl="0" marL="457200" rtl="0" algn="l">
              <a:spcBef>
                <a:spcPts val="1200"/>
              </a:spcBef>
              <a:spcAft>
                <a:spcPts val="0"/>
              </a:spcAft>
              <a:buSzPts val="1400"/>
              <a:buFont typeface="Times New Roman"/>
              <a:buChar char="●"/>
            </a:pPr>
            <a:r>
              <a:rPr lang="en-GB">
                <a:latin typeface="Times New Roman"/>
                <a:ea typeface="Times New Roman"/>
                <a:cs typeface="Times New Roman"/>
                <a:sym typeface="Times New Roman"/>
              </a:rPr>
              <a:t>Focus on building relationships</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GB">
                <a:latin typeface="Times New Roman"/>
                <a:ea typeface="Times New Roman"/>
                <a:cs typeface="Times New Roman"/>
                <a:sym typeface="Times New Roman"/>
              </a:rPr>
              <a:t>Prioritize healthy work culture</a:t>
            </a:r>
            <a:endParaRPr>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Times New Roman"/>
                <a:ea typeface="Times New Roman"/>
                <a:cs typeface="Times New Roman"/>
                <a:sym typeface="Times New Roman"/>
              </a:rPr>
              <a:t>Key Leadership Theories (Cont.)</a:t>
            </a:r>
            <a:endParaRPr>
              <a:latin typeface="Times New Roman"/>
              <a:ea typeface="Times New Roman"/>
              <a:cs typeface="Times New Roman"/>
              <a:sym typeface="Times New Roman"/>
            </a:endParaRPr>
          </a:p>
        </p:txBody>
      </p:sp>
      <p:sp>
        <p:nvSpPr>
          <p:cNvPr id="226" name="Google Shape;226;p4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latin typeface="Times New Roman"/>
                <a:ea typeface="Times New Roman"/>
                <a:cs typeface="Times New Roman"/>
                <a:sym typeface="Times New Roman"/>
              </a:rPr>
              <a:t>Participative Leadership Theory</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A democratic leadership style with subordinates are intentionally involved in organizational decision making </a:t>
            </a:r>
            <a:r>
              <a:rPr lang="en-GB" sz="1000">
                <a:latin typeface="Times New Roman"/>
                <a:ea typeface="Times New Roman"/>
                <a:cs typeface="Times New Roman"/>
                <a:sym typeface="Times New Roman"/>
              </a:rPr>
              <a:t>(Shonk, 2023)</a:t>
            </a:r>
            <a:endParaRPr sz="1000">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Goals: </a:t>
            </a:r>
            <a:endParaRPr>
              <a:latin typeface="Times New Roman"/>
              <a:ea typeface="Times New Roman"/>
              <a:cs typeface="Times New Roman"/>
              <a:sym typeface="Times New Roman"/>
            </a:endParaRPr>
          </a:p>
          <a:p>
            <a:pPr indent="-317500" lvl="0" marL="457200" rtl="0" algn="l">
              <a:spcBef>
                <a:spcPts val="1200"/>
              </a:spcBef>
              <a:spcAft>
                <a:spcPts val="0"/>
              </a:spcAft>
              <a:buSzPts val="1400"/>
              <a:buFont typeface="Times New Roman"/>
              <a:buChar char="●"/>
            </a:pPr>
            <a:r>
              <a:rPr lang="en-GB">
                <a:latin typeface="Times New Roman"/>
                <a:ea typeface="Times New Roman"/>
                <a:cs typeface="Times New Roman"/>
                <a:sym typeface="Times New Roman"/>
              </a:rPr>
              <a:t>Enhancing sense of work ownership</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GB">
                <a:latin typeface="Times New Roman"/>
                <a:ea typeface="Times New Roman"/>
                <a:cs typeface="Times New Roman"/>
                <a:sym typeface="Times New Roman"/>
              </a:rPr>
              <a:t>Improve decision making</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GB">
                <a:latin typeface="Times New Roman"/>
                <a:ea typeface="Times New Roman"/>
                <a:cs typeface="Times New Roman"/>
                <a:sym typeface="Times New Roman"/>
              </a:rPr>
              <a:t>Integrating workers’ personal goals with the organizational goals </a:t>
            </a:r>
            <a:r>
              <a:rPr lang="en-GB" sz="1000">
                <a:latin typeface="Times New Roman"/>
                <a:ea typeface="Times New Roman"/>
                <a:cs typeface="Times New Roman"/>
                <a:sym typeface="Times New Roman"/>
              </a:rPr>
              <a:t>(Shonk, 2023)</a:t>
            </a:r>
            <a:endParaRPr sz="1000">
              <a:latin typeface="Times New Roman"/>
              <a:ea typeface="Times New Roman"/>
              <a:cs typeface="Times New Roman"/>
              <a:sym typeface="Times New Roman"/>
            </a:endParaRPr>
          </a:p>
        </p:txBody>
      </p:sp>
      <p:sp>
        <p:nvSpPr>
          <p:cNvPr id="227" name="Google Shape;227;p4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latin typeface="Times New Roman"/>
                <a:ea typeface="Times New Roman"/>
                <a:cs typeface="Times New Roman"/>
                <a:sym typeface="Times New Roman"/>
              </a:rPr>
              <a:t>Charismatic Leadership Theory </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Robert House </a:t>
            </a:r>
            <a:r>
              <a:rPr lang="en-GB">
                <a:latin typeface="Times New Roman"/>
                <a:ea typeface="Times New Roman"/>
                <a:cs typeface="Times New Roman"/>
                <a:sym typeface="Times New Roman"/>
              </a:rPr>
              <a:t>describes leaders who “by force of their personal abilities are capable of having profound and extraordinary effects on followers.” </a:t>
            </a:r>
            <a:r>
              <a:rPr lang="en-GB" sz="1000">
                <a:latin typeface="Times New Roman"/>
                <a:ea typeface="Times New Roman"/>
                <a:cs typeface="Times New Roman"/>
                <a:sym typeface="Times New Roman"/>
              </a:rPr>
              <a:t>(Shonk, 2023)</a:t>
            </a:r>
            <a:endParaRPr sz="1000">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Charismatic leaders tends to: Break the established order and achieve major social change </a:t>
            </a:r>
            <a:r>
              <a:rPr lang="en-GB" sz="1000">
                <a:latin typeface="Times New Roman"/>
                <a:ea typeface="Times New Roman"/>
                <a:cs typeface="Times New Roman"/>
                <a:sym typeface="Times New Roman"/>
              </a:rPr>
              <a:t>(Shonk, 2023)</a:t>
            </a:r>
            <a:endParaRPr sz="1000">
              <a:latin typeface="Times New Roman"/>
              <a:ea typeface="Times New Roman"/>
              <a:cs typeface="Times New Roman"/>
              <a:sym typeface="Times New Roman"/>
            </a:endParaRPr>
          </a:p>
          <a:p>
            <a:pPr indent="0" lvl="0" marL="0" rtl="0" algn="l">
              <a:spcBef>
                <a:spcPts val="1200"/>
              </a:spcBef>
              <a:spcAft>
                <a:spcPts val="1200"/>
              </a:spcAft>
              <a:buNone/>
            </a:pPr>
            <a:r>
              <a:rPr lang="en-GB">
                <a:latin typeface="Times New Roman"/>
                <a:ea typeface="Times New Roman"/>
                <a:cs typeface="Times New Roman"/>
                <a:sym typeface="Times New Roman"/>
              </a:rPr>
              <a:t>Charismatic leaders can behave: overconfidence; eccentricity; and attention-seeking, manipulative behavior (</a:t>
            </a:r>
            <a:r>
              <a:rPr lang="en-GB" sz="1000">
                <a:latin typeface="Times New Roman"/>
                <a:ea typeface="Times New Roman"/>
                <a:cs typeface="Times New Roman"/>
                <a:sym typeface="Times New Roman"/>
              </a:rPr>
              <a:t>Shonk, 2023)</a:t>
            </a:r>
            <a:endParaRPr sz="10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Key T</a:t>
            </a:r>
            <a:r>
              <a:rPr lang="en-GB"/>
              <a:t>akeaways</a:t>
            </a:r>
            <a:endParaRPr/>
          </a:p>
        </p:txBody>
      </p:sp>
      <p:sp>
        <p:nvSpPr>
          <p:cNvPr id="233" name="Google Shape;233;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Legal: new startup need to choosing proper legal identity and file proper registration and licensing; be mindful of intellectual property protection and adhere to employment law &amp; contracts</a:t>
            </a:r>
            <a:endParaRPr/>
          </a:p>
          <a:p>
            <a:pPr indent="-342900" lvl="0" marL="457200" rtl="0" algn="l">
              <a:spcBef>
                <a:spcPts val="0"/>
              </a:spcBef>
              <a:spcAft>
                <a:spcPts val="0"/>
              </a:spcAft>
              <a:buSzPts val="1800"/>
              <a:buChar char="●"/>
            </a:pPr>
            <a:r>
              <a:rPr lang="en-GB"/>
              <a:t>Accounting &amp; financing: Understand the essential elements of financial statements and be able to read the Annual Report of a public company </a:t>
            </a:r>
            <a:endParaRPr/>
          </a:p>
          <a:p>
            <a:pPr indent="-342900" lvl="0" marL="457200" rtl="0" algn="l">
              <a:spcBef>
                <a:spcPts val="0"/>
              </a:spcBef>
              <a:spcAft>
                <a:spcPts val="0"/>
              </a:spcAft>
              <a:buSzPts val="1800"/>
              <a:buChar char="●"/>
            </a:pPr>
            <a:r>
              <a:rPr lang="en-GB"/>
              <a:t>How to lead: Understand the ethical theories, be able to choose 1 theory and apply them to your daily moral decisions; understand leadership theory and apply in managing your team</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1800"/>
              <a:t>References</a:t>
            </a:r>
            <a:endParaRPr sz="1800"/>
          </a:p>
        </p:txBody>
      </p:sp>
      <p:sp>
        <p:nvSpPr>
          <p:cNvPr id="239" name="Google Shape;239;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20000"/>
          </a:bodyPr>
          <a:lstStyle/>
          <a:p>
            <a:pPr indent="-179999" lvl="0" marL="179999" rtl="0" algn="l">
              <a:spcBef>
                <a:spcPts val="0"/>
              </a:spcBef>
              <a:spcAft>
                <a:spcPts val="0"/>
              </a:spcAft>
              <a:buNone/>
            </a:pPr>
            <a:r>
              <a:rPr lang="en-GB" sz="1150">
                <a:solidFill>
                  <a:srgbClr val="1A1A1A"/>
                </a:solidFill>
              </a:rPr>
              <a:t>Driver, Julia, (2022) "The History of Utilitarianism", </a:t>
            </a:r>
            <a:r>
              <a:rPr i="1" lang="en-GB" sz="1150">
                <a:solidFill>
                  <a:srgbClr val="1A1A1A"/>
                </a:solidFill>
              </a:rPr>
              <a:t>The Stanford Encyclopedia of Philosophy </a:t>
            </a:r>
            <a:r>
              <a:rPr lang="en-GB" sz="1150">
                <a:solidFill>
                  <a:srgbClr val="1A1A1A"/>
                </a:solidFill>
              </a:rPr>
              <a:t>(Winter 2022 Edition), Edward N. Zalta &amp; Uri Nodelman (eds.), Available at &lt;</a:t>
            </a:r>
            <a:r>
              <a:rPr lang="en-GB" sz="1150" u="sng">
                <a:solidFill>
                  <a:schemeClr val="hlink"/>
                </a:solidFill>
                <a:hlinkClick r:id="rId3"/>
              </a:rPr>
              <a:t>https://plato.stanford.edu/archives/win2022/entries/utilitarianism-history/</a:t>
            </a:r>
            <a:r>
              <a:rPr lang="en-GB" sz="1150">
                <a:solidFill>
                  <a:srgbClr val="1A1A1A"/>
                </a:solidFill>
              </a:rPr>
              <a:t>&gt;.</a:t>
            </a:r>
            <a:endParaRPr sz="1150">
              <a:solidFill>
                <a:srgbClr val="1A1A1A"/>
              </a:solidFill>
            </a:endParaRPr>
          </a:p>
          <a:p>
            <a:pPr indent="-179999" lvl="0" marL="179999" rtl="0" algn="l">
              <a:spcBef>
                <a:spcPts val="1200"/>
              </a:spcBef>
              <a:spcAft>
                <a:spcPts val="0"/>
              </a:spcAft>
              <a:buNone/>
            </a:pPr>
            <a:r>
              <a:rPr lang="en-GB" sz="1150">
                <a:solidFill>
                  <a:srgbClr val="1A1A1A"/>
                </a:solidFill>
              </a:rPr>
              <a:t>Wenar, Leif, (2021) "John Rawls", The Stanford Encyclopedia of Philosophy (Summer 2021 Edition), Edward N. Zalta (ed.), </a:t>
            </a:r>
            <a:r>
              <a:rPr lang="en-GB" sz="1150">
                <a:solidFill>
                  <a:srgbClr val="1A1A1A"/>
                </a:solidFill>
              </a:rPr>
              <a:t>Available at </a:t>
            </a:r>
            <a:r>
              <a:rPr lang="en-GB" sz="1150">
                <a:solidFill>
                  <a:srgbClr val="1A1A1A"/>
                </a:solidFill>
              </a:rPr>
              <a:t> &lt;</a:t>
            </a:r>
            <a:r>
              <a:rPr lang="en-GB" sz="1150" u="sng">
                <a:solidFill>
                  <a:schemeClr val="hlink"/>
                </a:solidFill>
                <a:hlinkClick r:id="rId4"/>
              </a:rPr>
              <a:t>https://plato.stanford.edu/archives/sum2021/entries/rawls/</a:t>
            </a:r>
            <a:r>
              <a:rPr lang="en-GB" sz="1150">
                <a:solidFill>
                  <a:srgbClr val="1A1A1A"/>
                </a:solidFill>
              </a:rPr>
              <a:t>&gt;.</a:t>
            </a:r>
            <a:endParaRPr sz="1150">
              <a:solidFill>
                <a:srgbClr val="1A1A1A"/>
              </a:solidFill>
            </a:endParaRPr>
          </a:p>
          <a:p>
            <a:pPr indent="-179999" lvl="0" marL="179999" rtl="0" algn="l">
              <a:spcBef>
                <a:spcPts val="1200"/>
              </a:spcBef>
              <a:spcAft>
                <a:spcPts val="0"/>
              </a:spcAft>
              <a:buNone/>
            </a:pPr>
            <a:r>
              <a:rPr lang="en-GB" sz="1150">
                <a:solidFill>
                  <a:srgbClr val="1A1A1A"/>
                </a:solidFill>
              </a:rPr>
              <a:t>Wenar, Leif, (2023) "Rights", The Stanford Encyclopedia of Philosophy (Spring 2023 Edition), Edward N. Zalta &amp; Uri Nodelman (eds.), </a:t>
            </a:r>
            <a:r>
              <a:rPr lang="en-GB" sz="1150">
                <a:solidFill>
                  <a:srgbClr val="1A1A1A"/>
                </a:solidFill>
              </a:rPr>
              <a:t>Available at </a:t>
            </a:r>
            <a:r>
              <a:rPr lang="en-GB" sz="1150">
                <a:solidFill>
                  <a:srgbClr val="1A1A1A"/>
                </a:solidFill>
              </a:rPr>
              <a:t> &lt;</a:t>
            </a:r>
            <a:r>
              <a:rPr lang="en-GB" sz="1150" u="sng">
                <a:solidFill>
                  <a:schemeClr val="hlink"/>
                </a:solidFill>
                <a:hlinkClick r:id="rId5"/>
              </a:rPr>
              <a:t>https://plato.stanford.edu/archives/spr2023/entries/rights/</a:t>
            </a:r>
            <a:r>
              <a:rPr lang="en-GB" sz="1150">
                <a:solidFill>
                  <a:srgbClr val="1A1A1A"/>
                </a:solidFill>
              </a:rPr>
              <a:t>&gt;.</a:t>
            </a:r>
            <a:endParaRPr sz="1150">
              <a:solidFill>
                <a:srgbClr val="1A1A1A"/>
              </a:solidFill>
            </a:endParaRPr>
          </a:p>
          <a:p>
            <a:pPr indent="-179999" lvl="0" marL="179999" rtl="0" algn="l">
              <a:spcBef>
                <a:spcPts val="1200"/>
              </a:spcBef>
              <a:spcAft>
                <a:spcPts val="0"/>
              </a:spcAft>
              <a:buNone/>
            </a:pPr>
            <a:r>
              <a:rPr lang="en-GB" sz="1150">
                <a:solidFill>
                  <a:srgbClr val="1A1A1A"/>
                </a:solidFill>
              </a:rPr>
              <a:t>D’Agostino, Fred, Gerald Gaus, and John Thrasher, (2024) "Contemporary Approaches to the Social Contract", The Stanford Encyclopedia of Philosophy (Spring 2024 Edition), Edward N. Zalta &amp; Uri Nodelman (eds.), </a:t>
            </a:r>
            <a:r>
              <a:rPr lang="en-GB" sz="1150">
                <a:solidFill>
                  <a:srgbClr val="1A1A1A"/>
                </a:solidFill>
              </a:rPr>
              <a:t>Available at </a:t>
            </a:r>
            <a:r>
              <a:rPr lang="en-GB" sz="1150">
                <a:solidFill>
                  <a:srgbClr val="1A1A1A"/>
                </a:solidFill>
              </a:rPr>
              <a:t> &lt;</a:t>
            </a:r>
            <a:r>
              <a:rPr lang="en-GB" sz="1150" u="sng">
                <a:solidFill>
                  <a:schemeClr val="hlink"/>
                </a:solidFill>
                <a:hlinkClick r:id="rId6"/>
              </a:rPr>
              <a:t>https://plato.stanford.edu/archives/spr2024/entries/contractarianism-contemporary/</a:t>
            </a:r>
            <a:r>
              <a:rPr lang="en-GB" sz="1150">
                <a:solidFill>
                  <a:srgbClr val="1A1A1A"/>
                </a:solidFill>
              </a:rPr>
              <a:t>&gt;.</a:t>
            </a:r>
            <a:endParaRPr sz="1150">
              <a:solidFill>
                <a:srgbClr val="1A1A1A"/>
              </a:solidFill>
            </a:endParaRPr>
          </a:p>
          <a:p>
            <a:pPr indent="-179999" lvl="0" marL="179999" rtl="0" algn="l">
              <a:spcBef>
                <a:spcPts val="1200"/>
              </a:spcBef>
              <a:spcAft>
                <a:spcPts val="0"/>
              </a:spcAft>
              <a:buNone/>
            </a:pPr>
            <a:r>
              <a:rPr lang="en-GB" sz="1150">
                <a:solidFill>
                  <a:srgbClr val="1A1A1A"/>
                </a:solidFill>
              </a:rPr>
              <a:t>Badhwar, Neera K. and Roderick T. Long, (2023) "Ayn Rand", The Stanford Encyclopedia of Philosophy (Winter 2023 Edition), Edward N. Zalta &amp; Uri Nodelman (eds.), </a:t>
            </a:r>
            <a:r>
              <a:rPr lang="en-GB" sz="1150">
                <a:solidFill>
                  <a:srgbClr val="1A1A1A"/>
                </a:solidFill>
              </a:rPr>
              <a:t>Available at </a:t>
            </a:r>
            <a:r>
              <a:rPr lang="en-GB" sz="1150">
                <a:solidFill>
                  <a:srgbClr val="1A1A1A"/>
                </a:solidFill>
              </a:rPr>
              <a:t> &lt;</a:t>
            </a:r>
            <a:r>
              <a:rPr lang="en-GB" sz="1150" u="sng">
                <a:solidFill>
                  <a:schemeClr val="hlink"/>
                </a:solidFill>
                <a:hlinkClick r:id="rId7"/>
              </a:rPr>
              <a:t>https://plato.stanford.edu/archives/win2023/entries/ayn-rand/</a:t>
            </a:r>
            <a:r>
              <a:rPr lang="en-GB" sz="1150">
                <a:solidFill>
                  <a:srgbClr val="1A1A1A"/>
                </a:solidFill>
              </a:rPr>
              <a:t>&gt;.</a:t>
            </a:r>
            <a:endParaRPr sz="1150">
              <a:solidFill>
                <a:srgbClr val="1A1A1A"/>
              </a:solidFill>
            </a:endParaRPr>
          </a:p>
          <a:p>
            <a:pPr indent="-179999" lvl="0" marL="179999" rtl="0" algn="l">
              <a:spcBef>
                <a:spcPts val="1200"/>
              </a:spcBef>
              <a:spcAft>
                <a:spcPts val="0"/>
              </a:spcAft>
              <a:buNone/>
            </a:pPr>
            <a:r>
              <a:rPr lang="en-GB" sz="1150">
                <a:solidFill>
                  <a:srgbClr val="1A1A1A"/>
                </a:solidFill>
              </a:rPr>
              <a:t>Norlock, Kathryn, (2019) "Feminist Ethics", The Stanford Encyclopedia of Philosophy (Summer 2019 Edition), Edward N. Zalta (ed.), </a:t>
            </a:r>
            <a:r>
              <a:rPr lang="en-GB" sz="1150">
                <a:solidFill>
                  <a:srgbClr val="1A1A1A"/>
                </a:solidFill>
              </a:rPr>
              <a:t>Available at </a:t>
            </a:r>
            <a:r>
              <a:rPr lang="en-GB" sz="1150">
                <a:solidFill>
                  <a:srgbClr val="1A1A1A"/>
                </a:solidFill>
              </a:rPr>
              <a:t> &lt;</a:t>
            </a:r>
            <a:r>
              <a:rPr lang="en-GB" sz="1150" u="sng">
                <a:solidFill>
                  <a:schemeClr val="hlink"/>
                </a:solidFill>
                <a:hlinkClick r:id="rId8"/>
              </a:rPr>
              <a:t>https://plato.stanford.edu/archives/sum2019/entries/feminism-ethics/</a:t>
            </a:r>
            <a:r>
              <a:rPr lang="en-GB" sz="1150">
                <a:solidFill>
                  <a:srgbClr val="1A1A1A"/>
                </a:solidFill>
              </a:rPr>
              <a:t>&gt;.</a:t>
            </a:r>
            <a:endParaRPr sz="1150">
              <a:solidFill>
                <a:srgbClr val="1A1A1A"/>
              </a:solidFill>
            </a:endParaRPr>
          </a:p>
          <a:p>
            <a:pPr indent="-179999" lvl="0" marL="179999" rtl="0" algn="l">
              <a:spcBef>
                <a:spcPts val="1200"/>
              </a:spcBef>
              <a:spcAft>
                <a:spcPts val="0"/>
              </a:spcAft>
              <a:buNone/>
            </a:pPr>
            <a:r>
              <a:rPr lang="en-GB" sz="1150">
                <a:solidFill>
                  <a:srgbClr val="1A1A1A"/>
                </a:solidFill>
              </a:rPr>
              <a:t>Ziter, Philip, (2023) “Formation To Funding: Legal Considerations for Tech Startups in Vietnam”, Russin &amp; Vecchi, </a:t>
            </a:r>
            <a:r>
              <a:rPr lang="en-GB" sz="1150">
                <a:solidFill>
                  <a:srgbClr val="1A1A1A"/>
                </a:solidFill>
              </a:rPr>
              <a:t>Available at </a:t>
            </a:r>
            <a:r>
              <a:rPr lang="en-GB" sz="1150">
                <a:solidFill>
                  <a:srgbClr val="1A1A1A"/>
                </a:solidFill>
              </a:rPr>
              <a:t>&lt;</a:t>
            </a:r>
            <a:r>
              <a:rPr lang="en-GB" sz="1150" u="sng">
                <a:solidFill>
                  <a:schemeClr val="hlink"/>
                </a:solidFill>
                <a:hlinkClick r:id="rId9"/>
              </a:rPr>
              <a:t>https://www.russinvecchi.com.vn/publication/formation-to-funding-legal-considerations-for-tech-startups-in-vietnam/</a:t>
            </a:r>
            <a:r>
              <a:rPr lang="en-GB" sz="1150">
                <a:solidFill>
                  <a:srgbClr val="1A1A1A"/>
                </a:solidFill>
              </a:rPr>
              <a:t>&gt;</a:t>
            </a:r>
            <a:endParaRPr sz="1150">
              <a:solidFill>
                <a:srgbClr val="1A1A1A"/>
              </a:solidFill>
            </a:endParaRPr>
          </a:p>
          <a:p>
            <a:pPr indent="-179999" lvl="0" marL="179999" rtl="0" algn="l">
              <a:spcBef>
                <a:spcPts val="1200"/>
              </a:spcBef>
              <a:spcAft>
                <a:spcPts val="0"/>
              </a:spcAft>
              <a:buNone/>
            </a:pPr>
            <a:r>
              <a:rPr lang="en-GB" sz="1150">
                <a:solidFill>
                  <a:srgbClr val="1A1A1A"/>
                </a:solidFill>
              </a:rPr>
              <a:t>Osman, Maddy, (2024) “How To Do Accounting for Your Startup: Steps, Tips, and Tools”, </a:t>
            </a:r>
            <a:r>
              <a:rPr lang="en-GB" sz="1150">
                <a:solidFill>
                  <a:srgbClr val="1A1A1A"/>
                </a:solidFill>
              </a:rPr>
              <a:t>Hubspot</a:t>
            </a:r>
            <a:r>
              <a:rPr lang="en-GB" sz="1150">
                <a:solidFill>
                  <a:srgbClr val="1A1A1A"/>
                </a:solidFill>
              </a:rPr>
              <a:t>, </a:t>
            </a:r>
            <a:r>
              <a:rPr lang="en-GB" sz="1150">
                <a:solidFill>
                  <a:srgbClr val="1A1A1A"/>
                </a:solidFill>
              </a:rPr>
              <a:t>Available at </a:t>
            </a:r>
            <a:r>
              <a:rPr lang="en-GB" sz="1150">
                <a:solidFill>
                  <a:srgbClr val="1A1A1A"/>
                </a:solidFill>
              </a:rPr>
              <a:t>&lt;</a:t>
            </a:r>
            <a:r>
              <a:rPr lang="en-GB" sz="1150" u="sng">
                <a:solidFill>
                  <a:schemeClr val="hlink"/>
                </a:solidFill>
                <a:hlinkClick r:id="rId10"/>
              </a:rPr>
              <a:t>https://blog.hubspot.com/sales/accounting-for-startups</a:t>
            </a:r>
            <a:r>
              <a:rPr lang="en-GB" sz="1150">
                <a:solidFill>
                  <a:srgbClr val="1A1A1A"/>
                </a:solidFill>
              </a:rPr>
              <a:t>&gt;</a:t>
            </a:r>
            <a:endParaRPr sz="1150">
              <a:solidFill>
                <a:srgbClr val="1A1A1A"/>
              </a:solidFill>
            </a:endParaRPr>
          </a:p>
          <a:p>
            <a:pPr indent="-179999" lvl="0" marL="179999" rtl="0" algn="l">
              <a:spcBef>
                <a:spcPts val="1200"/>
              </a:spcBef>
              <a:spcAft>
                <a:spcPts val="0"/>
              </a:spcAft>
              <a:buNone/>
            </a:pPr>
            <a:r>
              <a:rPr lang="en-GB" sz="1150">
                <a:solidFill>
                  <a:srgbClr val="1A1A1A"/>
                </a:solidFill>
              </a:rPr>
              <a:t>Stobierski, Tim, (2020) “THE BEGINNER’S GUIDE TO READING &amp; UNDERSTANDING FINANCIAL STATEMENTS”, </a:t>
            </a:r>
            <a:r>
              <a:rPr lang="en-GB" sz="1150">
                <a:solidFill>
                  <a:srgbClr val="1A1A1A"/>
                </a:solidFill>
              </a:rPr>
              <a:t>Harvard</a:t>
            </a:r>
            <a:r>
              <a:rPr lang="en-GB" sz="1150">
                <a:solidFill>
                  <a:srgbClr val="1A1A1A"/>
                </a:solidFill>
              </a:rPr>
              <a:t> Business Review, </a:t>
            </a:r>
            <a:r>
              <a:rPr lang="en-GB" sz="1150">
                <a:solidFill>
                  <a:srgbClr val="1A1A1A"/>
                </a:solidFill>
              </a:rPr>
              <a:t>Available at </a:t>
            </a:r>
            <a:r>
              <a:rPr lang="en-GB" sz="1150">
                <a:solidFill>
                  <a:srgbClr val="1A1A1A"/>
                </a:solidFill>
              </a:rPr>
              <a:t>&lt;</a:t>
            </a:r>
            <a:r>
              <a:rPr lang="en-GB" sz="1150" u="sng">
                <a:solidFill>
                  <a:schemeClr val="hlink"/>
                </a:solidFill>
                <a:hlinkClick r:id="rId11"/>
              </a:rPr>
              <a:t>https://online.hbs.edu/blog/post/how-to-read-financial-statements</a:t>
            </a:r>
            <a:r>
              <a:rPr lang="en-GB" sz="1150">
                <a:solidFill>
                  <a:srgbClr val="1A1A1A"/>
                </a:solidFill>
              </a:rPr>
              <a:t>&gt;</a:t>
            </a:r>
            <a:endParaRPr sz="1150">
              <a:solidFill>
                <a:srgbClr val="1A1A1A"/>
              </a:solidFill>
            </a:endParaRPr>
          </a:p>
          <a:p>
            <a:pPr indent="-179999" lvl="0" marL="179999" rtl="0" algn="l">
              <a:spcBef>
                <a:spcPts val="1200"/>
              </a:spcBef>
              <a:spcAft>
                <a:spcPts val="0"/>
              </a:spcAft>
              <a:buNone/>
            </a:pPr>
            <a:r>
              <a:rPr lang="en-GB" sz="1150">
                <a:solidFill>
                  <a:srgbClr val="1A1A1A"/>
                </a:solidFill>
              </a:rPr>
              <a:t>Shonk, Katie, (2023) “Charismatic Leadership: Weighing the Pros and Cons”, Program on Negotiation Harvard Law School, </a:t>
            </a:r>
            <a:r>
              <a:rPr lang="en-GB" sz="1150">
                <a:solidFill>
                  <a:srgbClr val="1A1A1A"/>
                </a:solidFill>
              </a:rPr>
              <a:t>Available at </a:t>
            </a:r>
            <a:r>
              <a:rPr lang="en-GB" sz="1150">
                <a:solidFill>
                  <a:srgbClr val="1A1A1A"/>
                </a:solidFill>
              </a:rPr>
              <a:t>&lt;</a:t>
            </a:r>
            <a:r>
              <a:rPr lang="en-GB" sz="1150" u="sng">
                <a:solidFill>
                  <a:schemeClr val="hlink"/>
                </a:solidFill>
                <a:hlinkClick r:id="rId12"/>
              </a:rPr>
              <a:t>https://www.pon.harvard.edu/daily/leadership-skills-daily/charismatic-leadership-weighing-the-pros-and-cons/</a:t>
            </a:r>
            <a:r>
              <a:rPr lang="en-GB" sz="1150">
                <a:solidFill>
                  <a:srgbClr val="1A1A1A"/>
                </a:solidFill>
              </a:rPr>
              <a:t>&gt;</a:t>
            </a:r>
            <a:endParaRPr sz="1150">
              <a:solidFill>
                <a:srgbClr val="1A1A1A"/>
              </a:solidFill>
            </a:endParaRPr>
          </a:p>
          <a:p>
            <a:pPr indent="-179999" lvl="0" marL="179999" rtl="0" algn="l">
              <a:spcBef>
                <a:spcPts val="1200"/>
              </a:spcBef>
              <a:spcAft>
                <a:spcPts val="0"/>
              </a:spcAft>
              <a:buNone/>
            </a:pPr>
            <a:r>
              <a:rPr lang="en-GB" sz="1150">
                <a:solidFill>
                  <a:srgbClr val="1A1A1A"/>
                </a:solidFill>
              </a:rPr>
              <a:t>Shonk, Katie, (2023) “Participative Leadership: What It Can Do for Organizations”, </a:t>
            </a:r>
            <a:r>
              <a:rPr lang="en-GB" sz="1150">
                <a:solidFill>
                  <a:srgbClr val="1A1A1A"/>
                </a:solidFill>
              </a:rPr>
              <a:t>Program on Negotiation Harvard Law School, Available at &lt;</a:t>
            </a:r>
            <a:r>
              <a:rPr lang="en-GB" sz="1150" u="sng">
                <a:solidFill>
                  <a:schemeClr val="hlink"/>
                </a:solidFill>
                <a:hlinkClick r:id="rId13"/>
              </a:rPr>
              <a:t>https://www.pon.harvard.edu/daily/leadership-skills-daily/participative-leadership-what-it-can-do-for-organizations/</a:t>
            </a:r>
            <a:r>
              <a:rPr lang="en-GB" sz="1150">
                <a:solidFill>
                  <a:srgbClr val="1A1A1A"/>
                </a:solidFill>
              </a:rPr>
              <a:t>&gt;</a:t>
            </a:r>
            <a:endParaRPr sz="1150">
              <a:solidFill>
                <a:srgbClr val="1A1A1A"/>
              </a:solidFill>
            </a:endParaRPr>
          </a:p>
          <a:p>
            <a:pPr indent="-179999" lvl="0" marL="179999" rtl="0" algn="l">
              <a:spcBef>
                <a:spcPts val="1200"/>
              </a:spcBef>
              <a:spcAft>
                <a:spcPts val="0"/>
              </a:spcAft>
              <a:buNone/>
            </a:pPr>
            <a:r>
              <a:rPr lang="en-GB" sz="1150">
                <a:solidFill>
                  <a:srgbClr val="1A1A1A"/>
                </a:solidFill>
              </a:rPr>
              <a:t>Shonk, Katie, (2024) “The Contingency Theory of Leadership: A Focus on Fit”, Program on Negotiation Harvard Law School, Available at &lt;</a:t>
            </a:r>
            <a:r>
              <a:rPr lang="en-GB" sz="1150" u="sng">
                <a:solidFill>
                  <a:schemeClr val="hlink"/>
                </a:solidFill>
                <a:hlinkClick r:id="rId14"/>
              </a:rPr>
              <a:t>https://www.pon.harvard.edu/daily/leadership-skills-daily/the-contingency-theory-of-leadership-a-focus-on-fit/</a:t>
            </a:r>
            <a:r>
              <a:rPr lang="en-GB" sz="1150">
                <a:solidFill>
                  <a:srgbClr val="1A1A1A"/>
                </a:solidFill>
              </a:rPr>
              <a:t>&gt;</a:t>
            </a:r>
            <a:endParaRPr sz="1150">
              <a:solidFill>
                <a:srgbClr val="1A1A1A"/>
              </a:solidFill>
            </a:endParaRPr>
          </a:p>
          <a:p>
            <a:pPr indent="-179999" lvl="0" marL="179999" rtl="0" algn="l">
              <a:spcBef>
                <a:spcPts val="1200"/>
              </a:spcBef>
              <a:spcAft>
                <a:spcPts val="1200"/>
              </a:spcAft>
              <a:buNone/>
            </a:pPr>
            <a:r>
              <a:rPr lang="en-GB" sz="1150">
                <a:solidFill>
                  <a:srgbClr val="1A1A1A"/>
                </a:solidFill>
              </a:rPr>
              <a:t>Shonk, Katie, (2024) “The Trait Theory of Leadership”, Program on Negotiation Harvard Law School, Available at  &lt;https://www.pon.harvard.edu/daily/leadership-skills-daily/the-trait-theory-of-leadership/&gt;</a:t>
            </a:r>
            <a:endParaRPr sz="1150">
              <a:solidFill>
                <a:srgbClr val="1A1A1A"/>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